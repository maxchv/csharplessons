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32" r:id="rId13"/>
    <p:sldId id="267" r:id="rId14"/>
    <p:sldId id="268" r:id="rId15"/>
    <p:sldId id="269" r:id="rId16"/>
    <p:sldId id="270" r:id="rId17"/>
    <p:sldId id="272" r:id="rId18"/>
    <p:sldId id="333" r:id="rId19"/>
    <p:sldId id="27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8" r:id="rId34"/>
    <p:sldId id="349" r:id="rId35"/>
    <p:sldId id="350" r:id="rId36"/>
    <p:sldId id="351" r:id="rId3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4A3C7-7A7F-4E39-883E-ECE2E49FFCD5}" type="datetimeFigureOut">
              <a:rPr lang="ru-RU" smtClean="0"/>
              <a:pPr/>
              <a:t>22.04.2020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79B90-614C-4C5E-B1D2-8781D8AB4B1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/>
                <a:ea typeface="Times New Roman"/>
              </a:rPr>
              <a:t>Символы и строки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ru-RU" dirty="0" smtClean="0">
                <a:solidFill>
                  <a:srgbClr val="FF0000"/>
                </a:solidFill>
                <a:latin typeface="Times New Roman"/>
                <a:ea typeface="Times New Roman"/>
              </a:rPr>
              <a:t>символы 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ea typeface="Times New Roman"/>
              </a:rPr>
              <a:t>c</a:t>
            </a:r>
            <a:r>
              <a:rPr lang="ru-RU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har</a:t>
            </a:r>
            <a:r>
              <a:rPr lang="ru-RU" dirty="0" smtClean="0">
                <a:solidFill>
                  <a:srgbClr val="FF0000"/>
                </a:solidFill>
                <a:latin typeface="Times New Roman"/>
                <a:ea typeface="Times New Roman"/>
              </a:rPr>
              <a:t>, </a:t>
            </a:r>
          </a:p>
          <a:p>
            <a:pPr algn="l"/>
            <a:r>
              <a:rPr lang="ru-RU" dirty="0" smtClean="0">
                <a:solidFill>
                  <a:srgbClr val="FF0000"/>
                </a:solidFill>
                <a:latin typeface="Times New Roman"/>
                <a:ea typeface="Times New Roman"/>
              </a:rPr>
              <a:t>неизменяемые строки 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ea typeface="Times New Roman"/>
              </a:rPr>
              <a:t>string</a:t>
            </a:r>
            <a:r>
              <a:rPr lang="ru-RU" dirty="0" smtClean="0">
                <a:solidFill>
                  <a:srgbClr val="FF0000"/>
                </a:solidFill>
                <a:latin typeface="Times New Roman"/>
                <a:ea typeface="Times New Roman"/>
              </a:rPr>
              <a:t>,</a:t>
            </a:r>
          </a:p>
          <a:p>
            <a:pPr algn="l"/>
            <a:r>
              <a:rPr lang="ru-RU" dirty="0" smtClean="0">
                <a:solidFill>
                  <a:srgbClr val="FF0000"/>
                </a:solidFill>
                <a:latin typeface="Times New Roman"/>
                <a:ea typeface="Times New Roman"/>
              </a:rPr>
              <a:t> изменяемые строки </a:t>
            </a:r>
            <a:r>
              <a:rPr lang="ru-RU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Strin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gBi</a:t>
            </a:r>
            <a:r>
              <a:rPr lang="en-GB" dirty="0" smtClean="0">
                <a:solidFill>
                  <a:srgbClr val="FF0000"/>
                </a:solidFill>
                <a:latin typeface="Times New Roman"/>
                <a:ea typeface="Times New Roman"/>
              </a:rPr>
              <a:t>l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ea typeface="Times New Roman"/>
              </a:rPr>
              <a:t>der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,</a:t>
            </a:r>
          </a:p>
          <a:p>
            <a:pPr algn="l"/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 регулярные выражения </a:t>
            </a:r>
            <a:r>
              <a:rPr lang="ru-RU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Regex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Символы </a:t>
            </a:r>
            <a:r>
              <a:rPr lang="en-US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c</a:t>
            </a:r>
            <a:r>
              <a:rPr lang="ru-RU" b="1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har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ru-RU" dirty="0" smtClean="0">
                <a:latin typeface="Times New Roman"/>
                <a:ea typeface="Times New Roman"/>
              </a:rPr>
              <a:t>Символьный тип </a:t>
            </a:r>
            <a:r>
              <a:rPr lang="ru-RU" dirty="0" err="1" smtClean="0">
                <a:latin typeface="Times New Roman"/>
                <a:ea typeface="Times New Roman"/>
              </a:rPr>
              <a:t>char</a:t>
            </a:r>
            <a:r>
              <a:rPr lang="ru-RU" dirty="0" smtClean="0">
                <a:latin typeface="Times New Roman"/>
                <a:ea typeface="Times New Roman"/>
              </a:rPr>
              <a:t> предназначен для хранения символа в кодировке </a:t>
            </a:r>
            <a:r>
              <a:rPr lang="ru-RU" dirty="0" err="1" smtClean="0">
                <a:latin typeface="Times New Roman"/>
                <a:ea typeface="Times New Roman"/>
              </a:rPr>
              <a:t>Unicode</a:t>
            </a:r>
            <a:r>
              <a:rPr lang="ru-RU" dirty="0" smtClean="0">
                <a:latin typeface="Times New Roman"/>
                <a:ea typeface="Times New Roman"/>
              </a:rPr>
              <a:t>. </a:t>
            </a:r>
          </a:p>
          <a:p>
            <a:endParaRPr lang="ru-RU" dirty="0">
              <a:latin typeface="Times New Roman"/>
              <a:ea typeface="Times New Roman"/>
            </a:endParaRPr>
          </a:p>
          <a:p>
            <a:r>
              <a:rPr lang="ru-RU" dirty="0" smtClean="0">
                <a:latin typeface="Times New Roman"/>
                <a:ea typeface="Times New Roman"/>
              </a:rPr>
              <a:t>Символьный тип относится к встроенным типам данных С# и соответствует стандартному классу С</a:t>
            </a:r>
            <a:r>
              <a:rPr lang="en-US" dirty="0" err="1" smtClean="0">
                <a:latin typeface="Times New Roman"/>
                <a:ea typeface="Times New Roman"/>
              </a:rPr>
              <a:t>har</a:t>
            </a:r>
            <a:r>
              <a:rPr lang="ru-RU" dirty="0" smtClean="0">
                <a:latin typeface="Times New Roman"/>
                <a:ea typeface="Times New Roman"/>
              </a:rPr>
              <a:t> библиотеки .</a:t>
            </a:r>
            <a:r>
              <a:rPr lang="en-US" dirty="0" smtClean="0">
                <a:latin typeface="Times New Roman"/>
                <a:ea typeface="Times New Roman"/>
              </a:rPr>
              <a:t>Net</a:t>
            </a:r>
            <a:r>
              <a:rPr lang="ru-RU" dirty="0" smtClean="0">
                <a:latin typeface="Times New Roman"/>
                <a:ea typeface="Times New Roman"/>
              </a:rPr>
              <a:t> из пространства имен </a:t>
            </a:r>
            <a:r>
              <a:rPr lang="ru-RU" dirty="0" err="1" smtClean="0">
                <a:latin typeface="Times New Roman"/>
                <a:ea typeface="Times New Roman"/>
              </a:rPr>
              <a:t>System</a:t>
            </a:r>
            <a:r>
              <a:rPr lang="ru-RU" dirty="0" smtClean="0">
                <a:latin typeface="Times New Roman"/>
                <a:ea typeface="Times New Roman"/>
              </a:rPr>
              <a:t>. 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490066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FF0000"/>
                </a:solidFill>
                <a:latin typeface="Times New Roman"/>
                <a:ea typeface="Times New Roman"/>
              </a:rPr>
              <a:t>Основные методы</a:t>
            </a:r>
            <a:endParaRPr lang="ru-RU" sz="2800" dirty="0">
              <a:solidFill>
                <a:srgbClr val="FF0000"/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51520" y="692697"/>
          <a:ext cx="8640960" cy="598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9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0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="1" dirty="0">
                          <a:latin typeface="Times New Roman"/>
                          <a:ea typeface="Times New Roman"/>
                        </a:rPr>
                        <a:t>Метод</a:t>
                      </a:r>
                      <a:endParaRPr lang="ru-RU" sz="16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="1" dirty="0">
                          <a:latin typeface="Times New Roman"/>
                          <a:ea typeface="Times New Roman"/>
                        </a:rPr>
                        <a:t>Описание </a:t>
                      </a:r>
                      <a:endParaRPr lang="ru-RU" sz="16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8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GetNumericValue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числовое значение символа, если он является цифрой, и -1 в противном случае.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37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GetUnicodeCategory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категорию Unicode-символа.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 Unicode символы разделены на категории, например цифры (DecimalDigitNumber), римские цифры (LetterNumber), разделители строк (LineSepar</a:t>
                      </a:r>
                      <a:r>
                        <a:rPr lang="en-US" sz="1600"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ru-RU" sz="1600">
                          <a:latin typeface="Times New Roman"/>
                          <a:ea typeface="Times New Roman"/>
                        </a:rPr>
                        <a:t>tor), буквы в нижнем регистре (LowercaseLetter) и т.д.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9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IsControl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является управляющим.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5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IsDigit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является десятичной цифрой.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5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IsLetter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является буквой.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5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IsLetter</a:t>
                      </a:r>
                      <a:r>
                        <a:rPr lang="ru-RU" sz="1600">
                          <a:latin typeface="Times New Roman"/>
                          <a:ea typeface="Times New Roman"/>
                        </a:rPr>
                        <a:t>OrDigit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является буквой или десятичной цифрой.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5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IsL</a:t>
                      </a:r>
                      <a:r>
                        <a:rPr lang="ru-RU" sz="1600">
                          <a:latin typeface="Times New Roman"/>
                          <a:ea typeface="Times New Roman"/>
                        </a:rPr>
                        <a:t>ower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задан в нижнем регистре.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68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IsNumber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является числом (десятичным или шестнадцатеричным).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9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IsPunctuation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является знаком препинания.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5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ru-RU" sz="1600">
                          <a:latin typeface="Times New Roman"/>
                          <a:ea typeface="Times New Roman"/>
                        </a:rPr>
                        <a:t>Separator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является разделителем.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75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IsUpper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задан в нижнем регистре.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868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IsWhiteSpace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Возвращает true, если символ является пробельным (пробел, перевод строки, возврат каретки).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9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Parse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Преобразует строку в символ (строка должна состоять из одного символа).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29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ToLower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Преобразует символ в нижний регистр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2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</a:rPr>
                        <a:t>ToUpper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</a:rPr>
                        <a:t>Преобразует символ в верхний регистр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435280" cy="6336704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/>
              <a:t>static void Main()</a:t>
            </a:r>
            <a:endParaRPr lang="ru-RU" dirty="0"/>
          </a:p>
          <a:p>
            <a:pPr>
              <a:buNone/>
            </a:pPr>
            <a:r>
              <a:rPr lang="en-US" dirty="0"/>
              <a:t>     {</a:t>
            </a:r>
            <a:endParaRPr lang="ru-RU" dirty="0"/>
          </a:p>
          <a:p>
            <a:pPr>
              <a:buNone/>
            </a:pPr>
            <a:r>
              <a:rPr lang="en-US" dirty="0"/>
              <a:t>       try</a:t>
            </a:r>
            <a:endParaRPr lang="ru-RU" dirty="0"/>
          </a:p>
          <a:p>
            <a:pPr>
              <a:buNone/>
            </a:pPr>
            <a:r>
              <a:rPr lang="en-US" dirty="0"/>
              <a:t>        {</a:t>
            </a:r>
            <a:endParaRPr lang="ru-RU" dirty="0"/>
          </a:p>
          <a:p>
            <a:pPr>
              <a:buNone/>
            </a:pPr>
            <a:r>
              <a:rPr lang="en-US" dirty="0"/>
              <a:t>         char b = 'B', c = '\x64', d = '\</a:t>
            </a:r>
            <a:r>
              <a:rPr lang="en-US" dirty="0" err="1"/>
              <a:t>uffff</a:t>
            </a:r>
            <a:r>
              <a:rPr lang="en-US" dirty="0"/>
              <a:t>';</a:t>
            </a:r>
            <a:endParaRPr lang="ru-RU" dirty="0"/>
          </a:p>
          <a:p>
            <a:pPr>
              <a:buNone/>
            </a:pPr>
            <a:r>
              <a:rPr lang="en-US" dirty="0"/>
              <a:t>         </a:t>
            </a:r>
            <a:r>
              <a:rPr lang="en-US" dirty="0" err="1"/>
              <a:t>Console.WriteLine</a:t>
            </a:r>
            <a:r>
              <a:rPr lang="en-US" dirty="0"/>
              <a:t>("{0}, {1}, {2}", b, c, d);</a:t>
            </a:r>
            <a:endParaRPr lang="ru-RU" dirty="0"/>
          </a:p>
          <a:p>
            <a:pPr>
              <a:buNone/>
            </a:pPr>
            <a:r>
              <a:rPr lang="en-US" dirty="0"/>
              <a:t>         </a:t>
            </a:r>
            <a:r>
              <a:rPr lang="en-US" dirty="0" err="1"/>
              <a:t>Console.WriteLine</a:t>
            </a:r>
            <a:r>
              <a:rPr lang="en-US" dirty="0"/>
              <a:t>("{0}, {1}, {2}", </a:t>
            </a:r>
            <a:r>
              <a:rPr lang="en-US" dirty="0" err="1"/>
              <a:t>char.ToLower</a:t>
            </a:r>
            <a:r>
              <a:rPr lang="en-US" dirty="0"/>
              <a:t>(b), </a:t>
            </a:r>
            <a:r>
              <a:rPr lang="en-US" dirty="0" err="1"/>
              <a:t>char.ToUpper</a:t>
            </a:r>
            <a:r>
              <a:rPr lang="en-US" dirty="0"/>
              <a:t>(c), </a:t>
            </a:r>
            <a:r>
              <a:rPr lang="en-US" dirty="0" err="1"/>
              <a:t>char.GetNumericValue</a:t>
            </a:r>
            <a:r>
              <a:rPr lang="en-US" dirty="0"/>
              <a:t>(d));</a:t>
            </a:r>
            <a:endParaRPr lang="ru-RU" dirty="0"/>
          </a:p>
          <a:p>
            <a:pPr>
              <a:buNone/>
            </a:pPr>
            <a:r>
              <a:rPr lang="en-US" dirty="0"/>
              <a:t>         char a;</a:t>
            </a:r>
            <a:endParaRPr lang="ru-RU" dirty="0"/>
          </a:p>
          <a:p>
            <a:pPr>
              <a:buNone/>
            </a:pPr>
            <a:r>
              <a:rPr lang="en-US" dirty="0"/>
              <a:t>         do</a:t>
            </a:r>
            <a:r>
              <a:rPr lang="ru-RU" dirty="0"/>
              <a:t>	</a:t>
            </a:r>
            <a:r>
              <a:rPr lang="ru-RU" dirty="0">
                <a:solidFill>
                  <a:srgbClr val="00B050"/>
                </a:solidFill>
              </a:rPr>
              <a:t>//цикл </a:t>
            </a:r>
            <a:r>
              <a:rPr lang="ru-RU" dirty="0" err="1">
                <a:solidFill>
                  <a:srgbClr val="00B050"/>
                </a:solidFill>
              </a:rPr>
              <a:t>выполнятеся</a:t>
            </a:r>
            <a:r>
              <a:rPr lang="ru-RU" dirty="0">
                <a:solidFill>
                  <a:srgbClr val="00B050"/>
                </a:solidFill>
              </a:rPr>
              <a:t> до тех пор, пока не ввели символ </a:t>
            </a:r>
            <a:r>
              <a:rPr lang="en-US" dirty="0">
                <a:solidFill>
                  <a:srgbClr val="00B050"/>
                </a:solidFill>
              </a:rPr>
              <a:t>e</a:t>
            </a:r>
            <a:endParaRPr lang="ru-RU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ru-RU" dirty="0"/>
              <a:t>          </a:t>
            </a:r>
            <a:r>
              <a:rPr lang="en-US" dirty="0"/>
              <a:t>{</a:t>
            </a:r>
            <a:endParaRPr lang="ru-RU" dirty="0"/>
          </a:p>
          <a:p>
            <a:pPr>
              <a:buNone/>
            </a:pPr>
            <a:r>
              <a:rPr lang="en-US" dirty="0"/>
              <a:t>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Введите символ</a:t>
            </a:r>
            <a:r>
              <a:rPr lang="en-US" dirty="0"/>
              <a:t>: ");</a:t>
            </a:r>
            <a:endParaRPr lang="ru-RU" dirty="0"/>
          </a:p>
          <a:p>
            <a:pPr>
              <a:buNone/>
            </a:pPr>
            <a:r>
              <a:rPr lang="en-US" dirty="0"/>
              <a:t>           a = </a:t>
            </a:r>
            <a:r>
              <a:rPr lang="en-US" dirty="0" err="1"/>
              <a:t>char.Parse</a:t>
            </a:r>
            <a:r>
              <a:rPr lang="en-US" dirty="0"/>
              <a:t>(</a:t>
            </a:r>
            <a:r>
              <a:rPr lang="en-US" dirty="0" err="1"/>
              <a:t>Console.ReadLine</a:t>
            </a:r>
            <a:r>
              <a:rPr lang="en-US" dirty="0"/>
              <a:t>());</a:t>
            </a:r>
            <a:endParaRPr lang="ru-RU" dirty="0"/>
          </a:p>
          <a:p>
            <a:pPr>
              <a:buNone/>
            </a:pPr>
            <a:r>
              <a:rPr lang="en-US" dirty="0"/>
              <a:t>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Введен символ</a:t>
            </a:r>
            <a:r>
              <a:rPr lang="en-US" dirty="0"/>
              <a:t> {0}, </a:t>
            </a:r>
            <a:r>
              <a:rPr lang="ru-RU" dirty="0"/>
              <a:t>его код</a:t>
            </a:r>
            <a:r>
              <a:rPr lang="en-US" dirty="0"/>
              <a:t>  {1}, </a:t>
            </a:r>
            <a:r>
              <a:rPr lang="ru-RU" dirty="0"/>
              <a:t>его категория</a:t>
            </a:r>
            <a:r>
              <a:rPr lang="en-US" dirty="0"/>
              <a:t> {2}", a, (</a:t>
            </a:r>
            <a:r>
              <a:rPr lang="en-US" dirty="0" err="1"/>
              <a:t>int</a:t>
            </a:r>
            <a:r>
              <a:rPr lang="en-US" dirty="0"/>
              <a:t>)a, </a:t>
            </a:r>
            <a:r>
              <a:rPr lang="en-US" dirty="0" err="1"/>
              <a:t>char.GetUnicodeCategory</a:t>
            </a:r>
            <a:r>
              <a:rPr lang="en-US" dirty="0"/>
              <a:t>(a));</a:t>
            </a:r>
            <a:endParaRPr lang="ru-RU" dirty="0"/>
          </a:p>
          <a:p>
            <a:pPr>
              <a:buNone/>
            </a:pPr>
            <a:r>
              <a:rPr lang="en-US" dirty="0"/>
              <a:t>           if (</a:t>
            </a:r>
            <a:r>
              <a:rPr lang="en-US" dirty="0" err="1"/>
              <a:t>char.IsLetter</a:t>
            </a:r>
            <a:r>
              <a:rPr lang="en-US" dirty="0"/>
              <a:t>(a))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Буква</a:t>
            </a:r>
            <a:r>
              <a:rPr lang="en-US" dirty="0"/>
              <a:t>");</a:t>
            </a:r>
            <a:endParaRPr lang="ru-RU" dirty="0"/>
          </a:p>
          <a:p>
            <a:pPr>
              <a:buNone/>
            </a:pPr>
            <a:r>
              <a:rPr lang="en-US" dirty="0"/>
              <a:t>           if (</a:t>
            </a:r>
            <a:r>
              <a:rPr lang="en-US" dirty="0" err="1"/>
              <a:t>char.IsUpper</a:t>
            </a:r>
            <a:r>
              <a:rPr lang="en-US" dirty="0"/>
              <a:t>(a))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Верхний регистр</a:t>
            </a:r>
            <a:r>
              <a:rPr lang="en-US" dirty="0"/>
              <a:t>");</a:t>
            </a:r>
            <a:endParaRPr lang="ru-RU" dirty="0"/>
          </a:p>
          <a:p>
            <a:pPr>
              <a:buNone/>
            </a:pPr>
            <a:r>
              <a:rPr lang="en-US" dirty="0"/>
              <a:t>           if (</a:t>
            </a:r>
            <a:r>
              <a:rPr lang="en-US" dirty="0" err="1"/>
              <a:t>char.IsLower</a:t>
            </a:r>
            <a:r>
              <a:rPr lang="en-US" dirty="0"/>
              <a:t>(a))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Нижний регистр</a:t>
            </a:r>
            <a:r>
              <a:rPr lang="en-US" dirty="0"/>
              <a:t>");</a:t>
            </a:r>
            <a:endParaRPr lang="ru-RU" dirty="0"/>
          </a:p>
          <a:p>
            <a:pPr>
              <a:buNone/>
            </a:pPr>
            <a:r>
              <a:rPr lang="en-US" dirty="0"/>
              <a:t>           if (</a:t>
            </a:r>
            <a:r>
              <a:rPr lang="en-US" dirty="0" err="1"/>
              <a:t>char.IsControl</a:t>
            </a:r>
            <a:r>
              <a:rPr lang="en-US" dirty="0"/>
              <a:t>(a))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Управляющий символ</a:t>
            </a:r>
            <a:r>
              <a:rPr lang="en-US" dirty="0"/>
              <a:t>");</a:t>
            </a:r>
            <a:endParaRPr lang="ru-RU" dirty="0"/>
          </a:p>
          <a:p>
            <a:pPr>
              <a:buNone/>
            </a:pPr>
            <a:r>
              <a:rPr lang="en-US" dirty="0"/>
              <a:t>           if (</a:t>
            </a:r>
            <a:r>
              <a:rPr lang="en-US" dirty="0" err="1"/>
              <a:t>char.IsNumber</a:t>
            </a:r>
            <a:r>
              <a:rPr lang="en-US" dirty="0"/>
              <a:t>(a))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Число</a:t>
            </a:r>
            <a:r>
              <a:rPr lang="en-US" dirty="0"/>
              <a:t>");</a:t>
            </a:r>
            <a:endParaRPr lang="ru-RU" dirty="0"/>
          </a:p>
          <a:p>
            <a:pPr>
              <a:buNone/>
            </a:pPr>
            <a:r>
              <a:rPr lang="en-US" dirty="0"/>
              <a:t>           if (</a:t>
            </a:r>
            <a:r>
              <a:rPr lang="en-US" dirty="0" err="1"/>
              <a:t>char.IsPunctuation</a:t>
            </a:r>
            <a:r>
              <a:rPr lang="en-US" dirty="0"/>
              <a:t>(a))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Разделитель</a:t>
            </a:r>
            <a:r>
              <a:rPr lang="en-US" dirty="0"/>
              <a:t>");</a:t>
            </a:r>
            <a:endParaRPr lang="ru-RU" dirty="0"/>
          </a:p>
          <a:p>
            <a:pPr>
              <a:buNone/>
            </a:pPr>
            <a:r>
              <a:rPr lang="en-US" dirty="0"/>
              <a:t>         } while (a != 'e');</a:t>
            </a:r>
            <a:endParaRPr lang="ru-RU" dirty="0"/>
          </a:p>
          <a:p>
            <a:pPr>
              <a:buNone/>
            </a:pPr>
            <a:r>
              <a:rPr lang="en-US" dirty="0"/>
              <a:t>       }</a:t>
            </a:r>
            <a:endParaRPr lang="ru-RU" dirty="0"/>
          </a:p>
          <a:p>
            <a:pPr>
              <a:buNone/>
            </a:pPr>
            <a:r>
              <a:rPr lang="en-US" dirty="0"/>
              <a:t>     catch</a:t>
            </a:r>
            <a:endParaRPr lang="ru-RU" dirty="0"/>
          </a:p>
          <a:p>
            <a:pPr>
              <a:buNone/>
            </a:pPr>
            <a:r>
              <a:rPr lang="en-US" dirty="0"/>
              <a:t>       {</a:t>
            </a:r>
            <a:endParaRPr lang="ru-RU" dirty="0"/>
          </a:p>
          <a:p>
            <a:pPr>
              <a:buNone/>
            </a:pPr>
            <a:r>
              <a:rPr lang="en-US" dirty="0"/>
              <a:t> 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Возникло исключение</a:t>
            </a:r>
            <a:r>
              <a:rPr lang="en-US" dirty="0"/>
              <a:t>");</a:t>
            </a:r>
            <a:endParaRPr lang="ru-RU" dirty="0"/>
          </a:p>
          <a:p>
            <a:pPr>
              <a:buNone/>
            </a:pPr>
            <a:r>
              <a:rPr lang="en-US" dirty="0"/>
              <a:t>         </a:t>
            </a:r>
            <a:r>
              <a:rPr lang="ru-RU" dirty="0"/>
              <a:t>}</a:t>
            </a:r>
          </a:p>
          <a:p>
            <a:pPr>
              <a:buNone/>
            </a:pPr>
            <a:r>
              <a:rPr lang="ru-RU" dirty="0"/>
              <a:t>   }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05004"/>
            <a:ext cx="8496945" cy="630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260648"/>
            <a:ext cx="8424936" cy="626469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rgbClr val="00B050"/>
                </a:solidFill>
              </a:rPr>
              <a:t>//Организация массива </a:t>
            </a:r>
            <a:r>
              <a:rPr lang="ru-RU" dirty="0">
                <a:solidFill>
                  <a:srgbClr val="00B050"/>
                </a:solidFill>
              </a:rPr>
              <a:t>символов и </a:t>
            </a:r>
            <a:r>
              <a:rPr lang="ru-RU" dirty="0" smtClean="0">
                <a:solidFill>
                  <a:srgbClr val="00B050"/>
                </a:solidFill>
              </a:rPr>
              <a:t>работа </a:t>
            </a:r>
            <a:r>
              <a:rPr lang="ru-RU" dirty="0">
                <a:solidFill>
                  <a:srgbClr val="00B050"/>
                </a:solidFill>
              </a:rPr>
              <a:t>с ним на  основе базового класса </a:t>
            </a:r>
            <a:r>
              <a:rPr lang="ru-RU" dirty="0" err="1">
                <a:solidFill>
                  <a:srgbClr val="00B050"/>
                </a:solidFill>
              </a:rPr>
              <a:t>Array</a:t>
            </a:r>
            <a:r>
              <a:rPr lang="ru-RU" dirty="0">
                <a:solidFill>
                  <a:srgbClr val="00B050"/>
                </a:solidFill>
              </a:rPr>
              <a:t>:</a:t>
            </a:r>
          </a:p>
          <a:p>
            <a:pPr>
              <a:buNone/>
            </a:pPr>
            <a:r>
              <a:rPr lang="ru-RU" dirty="0"/>
              <a:t> </a:t>
            </a:r>
            <a:r>
              <a:rPr lang="en-US" dirty="0" smtClean="0"/>
              <a:t>static </a:t>
            </a:r>
            <a:r>
              <a:rPr lang="en-US" dirty="0"/>
              <a:t>void Main</a:t>
            </a:r>
            <a:r>
              <a:rPr lang="en-US" dirty="0" smtClean="0"/>
              <a:t>()        </a:t>
            </a:r>
            <a:r>
              <a:rPr lang="en-US" dirty="0"/>
              <a:t>{</a:t>
            </a:r>
            <a:endParaRPr lang="ru-RU" dirty="0"/>
          </a:p>
          <a:p>
            <a:pPr>
              <a:buNone/>
            </a:pPr>
            <a:r>
              <a:rPr lang="en-US" dirty="0"/>
              <a:t>            char[] a ={ 'm', 'a', '</a:t>
            </a:r>
            <a:r>
              <a:rPr lang="ru-RU" dirty="0"/>
              <a:t>Х</a:t>
            </a:r>
            <a:r>
              <a:rPr lang="en-US" dirty="0"/>
              <a:t>',  '</a:t>
            </a:r>
            <a:r>
              <a:rPr lang="en-US" dirty="0" err="1"/>
              <a:t>i</a:t>
            </a:r>
            <a:r>
              <a:rPr lang="en-US" dirty="0"/>
              <a:t>', 'M', 'u', 'S' , '!', '!', '!' };</a:t>
            </a:r>
            <a:endParaRPr lang="ru-RU" dirty="0"/>
          </a:p>
          <a:p>
            <a:pPr>
              <a:buNone/>
            </a:pPr>
            <a:r>
              <a:rPr lang="en-US" dirty="0"/>
              <a:t>            char</a:t>
            </a:r>
            <a:r>
              <a:rPr lang="ru-RU" dirty="0"/>
              <a:t> [] </a:t>
            </a:r>
            <a:r>
              <a:rPr lang="en-US" dirty="0"/>
              <a:t>b</a:t>
            </a:r>
            <a:r>
              <a:rPr lang="ru-RU" dirty="0"/>
              <a:t>="кол около колокола".</a:t>
            </a:r>
            <a:r>
              <a:rPr lang="en-US" dirty="0" err="1"/>
              <a:t>ToCharArray</a:t>
            </a:r>
            <a:r>
              <a:rPr lang="ru-RU" dirty="0"/>
              <a:t>(); //преобразование строки в массив символов</a:t>
            </a:r>
          </a:p>
          <a:p>
            <a:pPr>
              <a:buNone/>
            </a:pPr>
            <a:r>
              <a:rPr lang="ru-RU" dirty="0"/>
              <a:t>            </a:t>
            </a:r>
            <a:r>
              <a:rPr lang="ru-RU" dirty="0" err="1"/>
              <a:t>PrintArray</a:t>
            </a:r>
            <a:r>
              <a:rPr lang="ru-RU" dirty="0"/>
              <a:t>("Исходный массив а:", </a:t>
            </a:r>
            <a:r>
              <a:rPr lang="ru-RU" dirty="0" err="1"/>
              <a:t>a</a:t>
            </a:r>
            <a:r>
              <a:rPr lang="ru-RU" dirty="0"/>
              <a:t>);</a:t>
            </a:r>
          </a:p>
          <a:p>
            <a:pPr>
              <a:buNone/>
            </a:pPr>
            <a:r>
              <a:rPr lang="ru-RU" dirty="0"/>
              <a:t>            </a:t>
            </a: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x=0;x&lt;</a:t>
            </a:r>
            <a:r>
              <a:rPr lang="en-US" dirty="0" err="1"/>
              <a:t>a.Length</a:t>
            </a:r>
            <a:r>
              <a:rPr lang="en-US" dirty="0"/>
              <a:t>; x++)</a:t>
            </a:r>
            <a:endParaRPr lang="ru-RU" dirty="0"/>
          </a:p>
          <a:p>
            <a:pPr>
              <a:buNone/>
            </a:pPr>
            <a:r>
              <a:rPr lang="en-US" dirty="0"/>
              <a:t>                if (</a:t>
            </a:r>
            <a:r>
              <a:rPr lang="en-US" dirty="0" err="1"/>
              <a:t>char.IsLower</a:t>
            </a:r>
            <a:r>
              <a:rPr lang="en-US" dirty="0"/>
              <a:t>(a[x])) a[x]=</a:t>
            </a:r>
            <a:r>
              <a:rPr lang="en-US" dirty="0" err="1"/>
              <a:t>char.ToUpper</a:t>
            </a:r>
            <a:r>
              <a:rPr lang="en-US" dirty="0"/>
              <a:t>(a[x]);</a:t>
            </a:r>
            <a:endParaRPr lang="ru-RU" dirty="0"/>
          </a:p>
          <a:p>
            <a:pPr>
              <a:buNone/>
            </a:pPr>
            <a:r>
              <a:rPr lang="en-US" dirty="0"/>
              <a:t>            </a:t>
            </a:r>
            <a:r>
              <a:rPr lang="ru-RU" dirty="0" err="1"/>
              <a:t>PrintArray</a:t>
            </a:r>
            <a:r>
              <a:rPr lang="ru-RU" dirty="0"/>
              <a:t>("Измененный массив а:", </a:t>
            </a:r>
            <a:r>
              <a:rPr lang="ru-RU" dirty="0" err="1"/>
              <a:t>a</a:t>
            </a:r>
            <a:r>
              <a:rPr lang="ru-RU" dirty="0"/>
              <a:t>);</a:t>
            </a:r>
          </a:p>
          <a:p>
            <a:pPr>
              <a:buNone/>
            </a:pPr>
            <a:r>
              <a:rPr lang="ru-RU" dirty="0"/>
              <a:t>            </a:t>
            </a:r>
            <a:r>
              <a:rPr lang="ru-RU" dirty="0" err="1"/>
              <a:t>PrintArray</a:t>
            </a:r>
            <a:r>
              <a:rPr lang="ru-RU" dirty="0"/>
              <a:t>("Исходный массив b:", </a:t>
            </a:r>
            <a:r>
              <a:rPr lang="ru-RU" dirty="0" err="1"/>
              <a:t>b</a:t>
            </a:r>
            <a:r>
              <a:rPr lang="ru-RU" dirty="0"/>
              <a:t>);</a:t>
            </a:r>
          </a:p>
          <a:p>
            <a:pPr>
              <a:buNone/>
            </a:pPr>
            <a:r>
              <a:rPr lang="ru-RU" dirty="0"/>
              <a:t>            </a:t>
            </a:r>
            <a:r>
              <a:rPr lang="en-US" dirty="0" err="1"/>
              <a:t>Array.Reverse</a:t>
            </a:r>
            <a:r>
              <a:rPr lang="en-US" dirty="0"/>
              <a:t>(b);</a:t>
            </a:r>
            <a:endParaRPr lang="ru-RU" dirty="0"/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PrintArray</a:t>
            </a:r>
            <a:r>
              <a:rPr lang="en-US" dirty="0"/>
              <a:t>("</a:t>
            </a:r>
            <a:r>
              <a:rPr lang="ru-RU" dirty="0"/>
              <a:t>Измененный массив</a:t>
            </a:r>
            <a:r>
              <a:rPr lang="en-US" dirty="0"/>
              <a:t> b:", b);</a:t>
            </a:r>
            <a:endParaRPr lang="ru-RU" dirty="0"/>
          </a:p>
          <a:p>
            <a:pPr>
              <a:buNone/>
            </a:pPr>
            <a:r>
              <a:rPr lang="en-US" dirty="0"/>
              <a:t>       }</a:t>
            </a:r>
            <a:endParaRPr lang="ru-RU" dirty="0"/>
          </a:p>
          <a:p>
            <a:pPr>
              <a:buNone/>
            </a:pPr>
            <a:r>
              <a:rPr lang="en-US" dirty="0"/>
              <a:t> </a:t>
            </a:r>
            <a:endParaRPr lang="ru-RU" dirty="0"/>
          </a:p>
          <a:p>
            <a:pPr>
              <a:buNone/>
            </a:pPr>
            <a:r>
              <a:rPr lang="en-US" dirty="0"/>
              <a:t>static void </a:t>
            </a:r>
            <a:r>
              <a:rPr lang="en-US" dirty="0" err="1"/>
              <a:t>PrintArray</a:t>
            </a:r>
            <a:r>
              <a:rPr lang="en-US" dirty="0"/>
              <a:t>(string line, Array a)</a:t>
            </a:r>
            <a:endParaRPr lang="ru-RU" dirty="0"/>
          </a:p>
          <a:p>
            <a:pPr>
              <a:buNone/>
            </a:pPr>
            <a:r>
              <a:rPr lang="en-US" dirty="0"/>
              <a:t>       {</a:t>
            </a:r>
            <a:endParaRPr lang="ru-RU" dirty="0"/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(line);</a:t>
            </a:r>
            <a:endParaRPr lang="ru-RU" dirty="0"/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foreach</a:t>
            </a:r>
            <a:r>
              <a:rPr lang="en-US" dirty="0"/>
              <a:t>( object x in a) </a:t>
            </a:r>
            <a:r>
              <a:rPr lang="en-US" dirty="0" err="1"/>
              <a:t>Console.Write</a:t>
            </a:r>
            <a:r>
              <a:rPr lang="en-US" dirty="0"/>
              <a:t>(x);</a:t>
            </a:r>
            <a:endParaRPr lang="ru-RU" dirty="0"/>
          </a:p>
          <a:p>
            <a:pPr>
              <a:buNone/>
            </a:pPr>
            <a:r>
              <a:rPr lang="en-US" dirty="0"/>
              <a:t>            </a:t>
            </a:r>
            <a:r>
              <a:rPr lang="ru-RU" dirty="0" err="1"/>
              <a:t>Console.WriteLine</a:t>
            </a:r>
            <a:r>
              <a:rPr lang="ru-RU" dirty="0"/>
              <a:t>('\</a:t>
            </a:r>
            <a:r>
              <a:rPr lang="ru-RU" dirty="0" err="1"/>
              <a:t>n</a:t>
            </a:r>
            <a:r>
              <a:rPr lang="ru-RU" dirty="0"/>
              <a:t>');</a:t>
            </a:r>
          </a:p>
          <a:p>
            <a:pPr>
              <a:buNone/>
            </a:pPr>
            <a:r>
              <a:rPr lang="ru-RU" dirty="0"/>
              <a:t>       }</a:t>
            </a:r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t="11172" r="14167" b="14346"/>
          <a:stretch>
            <a:fillRect/>
          </a:stretch>
        </p:blipFill>
        <p:spPr bwMode="auto">
          <a:xfrm>
            <a:off x="5580113" y="3423462"/>
            <a:ext cx="3377174" cy="259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Неизменяемые строки </a:t>
            </a:r>
            <a:r>
              <a:rPr lang="en-US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string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1256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latin typeface="Times New Roman"/>
                <a:ea typeface="Times New Roman"/>
              </a:rPr>
              <a:t>Тип </a:t>
            </a:r>
            <a:r>
              <a:rPr lang="en-US" dirty="0" smtClean="0">
                <a:latin typeface="Times New Roman"/>
                <a:ea typeface="Times New Roman"/>
              </a:rPr>
              <a:t>string</a:t>
            </a:r>
            <a:r>
              <a:rPr lang="ru-RU" dirty="0" smtClean="0">
                <a:latin typeface="Times New Roman"/>
                <a:ea typeface="Times New Roman"/>
              </a:rPr>
              <a:t>, предназначенный для работы со стоками символов в кодировке </a:t>
            </a:r>
            <a:r>
              <a:rPr lang="en-US" dirty="0" smtClean="0">
                <a:latin typeface="Times New Roman"/>
                <a:ea typeface="Times New Roman"/>
              </a:rPr>
              <a:t>Unicode</a:t>
            </a:r>
            <a:r>
              <a:rPr lang="ru-RU" dirty="0" smtClean="0">
                <a:latin typeface="Times New Roman"/>
                <a:ea typeface="Times New Roman"/>
              </a:rPr>
              <a:t>. </a:t>
            </a:r>
          </a:p>
          <a:p>
            <a:endParaRPr lang="ru-RU" dirty="0">
              <a:latin typeface="Times New Roman"/>
              <a:ea typeface="Times New Roman"/>
            </a:endParaRPr>
          </a:p>
          <a:p>
            <a:r>
              <a:rPr lang="ru-RU" dirty="0" smtClean="0">
                <a:latin typeface="Times New Roman"/>
                <a:ea typeface="Times New Roman"/>
              </a:rPr>
              <a:t>Ему соответствует базовый тип класса </a:t>
            </a:r>
            <a:r>
              <a:rPr lang="en-US" dirty="0" smtClean="0">
                <a:latin typeface="Times New Roman"/>
                <a:ea typeface="Times New Roman"/>
              </a:rPr>
              <a:t>System</a:t>
            </a:r>
            <a:r>
              <a:rPr lang="ru-RU" dirty="0" smtClean="0">
                <a:latin typeface="Times New Roman"/>
                <a:ea typeface="Times New Roman"/>
              </a:rPr>
              <a:t>.</a:t>
            </a:r>
            <a:r>
              <a:rPr lang="ru-RU" dirty="0" err="1" smtClean="0">
                <a:latin typeface="Times New Roman"/>
                <a:ea typeface="Times New Roman"/>
              </a:rPr>
              <a:t>String</a:t>
            </a:r>
            <a:r>
              <a:rPr lang="ru-RU" dirty="0" smtClean="0">
                <a:latin typeface="Times New Roman"/>
                <a:ea typeface="Times New Roman"/>
              </a:rPr>
              <a:t> библиотеки .</a:t>
            </a:r>
            <a:r>
              <a:rPr lang="ru-RU" dirty="0" err="1" smtClean="0">
                <a:latin typeface="Times New Roman"/>
                <a:ea typeface="Times New Roman"/>
              </a:rPr>
              <a:t>Net</a:t>
            </a:r>
            <a:r>
              <a:rPr lang="ru-RU" dirty="0" smtClean="0">
                <a:latin typeface="Times New Roman"/>
                <a:ea typeface="Times New Roman"/>
              </a:rPr>
              <a:t>. </a:t>
            </a:r>
          </a:p>
          <a:p>
            <a:endParaRPr lang="ru-RU" dirty="0">
              <a:latin typeface="Times New Roman"/>
              <a:ea typeface="Times New Roman"/>
            </a:endParaRPr>
          </a:p>
          <a:p>
            <a:r>
              <a:rPr lang="ru-RU" dirty="0" smtClean="0">
                <a:latin typeface="Times New Roman"/>
                <a:ea typeface="Times New Roman"/>
              </a:rPr>
              <a:t>Каждый объект </a:t>
            </a:r>
            <a:r>
              <a:rPr lang="ru-RU" dirty="0" err="1" smtClean="0">
                <a:latin typeface="Times New Roman"/>
                <a:ea typeface="Times New Roman"/>
              </a:rPr>
              <a:t>string</a:t>
            </a:r>
            <a:r>
              <a:rPr lang="ru-RU" dirty="0" smtClean="0">
                <a:latin typeface="Times New Roman"/>
                <a:ea typeface="Times New Roman"/>
              </a:rPr>
              <a:t> - это неизменяемая последовательность символов </a:t>
            </a:r>
            <a:r>
              <a:rPr lang="ru-RU" dirty="0" err="1" smtClean="0">
                <a:latin typeface="Times New Roman"/>
                <a:ea typeface="Times New Roman"/>
              </a:rPr>
              <a:t>Unicode</a:t>
            </a:r>
            <a:r>
              <a:rPr lang="ru-RU" dirty="0" smtClean="0">
                <a:latin typeface="Times New Roman"/>
                <a:ea typeface="Times New Roman"/>
              </a:rPr>
              <a:t>, т.е. методы, предназначенные для изменения строк, возвращают измененные копии, исходные же строки остаются неизменными.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ru-RU" dirty="0" smtClean="0">
                <a:solidFill>
                  <a:srgbClr val="FF0000"/>
                </a:solidFill>
                <a:latin typeface="Times New Roman"/>
                <a:ea typeface="Times New Roman"/>
              </a:rPr>
              <a:t>Создание строк </a:t>
            </a:r>
            <a:endParaRPr lang="ru-RU" dirty="0">
              <a:solidFill>
                <a:srgbClr val="FF0000"/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268413"/>
          <a:ext cx="8229600" cy="5293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40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string s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;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инициализация отложена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string s</a:t>
                      </a:r>
                      <a:r>
                        <a:rPr lang="ru-RU" sz="1800" dirty="0" err="1" smtClean="0">
                          <a:latin typeface="Times New Roman"/>
                          <a:ea typeface="Times New Roman"/>
                        </a:rPr>
                        <a:t>=''кол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 около колокола'';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инициализация строковым литералом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112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ru-RU" sz="1800" dirty="0" err="1" smtClean="0">
                          <a:latin typeface="Times New Roman"/>
                          <a:ea typeface="Times New Roman"/>
                        </a:rPr>
                        <a:t>string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800" dirty="0" err="1" smtClean="0">
                          <a:latin typeface="Times New Roman"/>
                          <a:ea typeface="Times New Roman"/>
                        </a:rPr>
                        <a:t>s=@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''</a:t>
                      </a:r>
                      <a:r>
                        <a:rPr lang="en-US" sz="1800" dirty="0" err="1" smtClean="0">
                          <a:latin typeface="Times New Roman"/>
                          <a:ea typeface="Times New Roman"/>
                        </a:rPr>
                        <a:t>Привет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!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	</a:t>
                      </a:r>
                    </a:p>
                    <a:p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Сегодня хорошая погода!!! ''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символ @ сообщает конструктору </a:t>
                      </a:r>
                      <a:r>
                        <a:rPr lang="ru-RU" sz="1800" dirty="0" err="1" smtClean="0">
                          <a:latin typeface="Times New Roman"/>
                          <a:ea typeface="Times New Roman"/>
                        </a:rPr>
                        <a:t>string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, что строку нужно воспринимать буквально, даже если она занимает несколько строк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string s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=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new string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 (' ', 20);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конструктор создает строку из 20 пробелов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Times New Roman"/>
                          <a:ea typeface="Times New Roman"/>
                        </a:rPr>
                        <a:t>int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 x = 12344556;</a:t>
                      </a:r>
                      <a:endParaRPr lang="ru-RU" sz="1800" dirty="0" smtClean="0">
                        <a:latin typeface="Times New Roman"/>
                        <a:ea typeface="Times New Roman"/>
                      </a:endParaRPr>
                    </a:p>
                    <a:p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string s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 = 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x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.</a:t>
                      </a:r>
                      <a:r>
                        <a:rPr lang="en-US" sz="1800" dirty="0" err="1" smtClean="0">
                          <a:latin typeface="Times New Roman"/>
                          <a:ea typeface="Times New Roman"/>
                        </a:rPr>
                        <a:t>ToString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();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инициализировали целочисленную переменную преобразовали ее к типу 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string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char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 [] 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={'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', '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b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', '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', '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d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', '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e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'};	</a:t>
                      </a:r>
                    </a:p>
                    <a:p>
                      <a:pPr marL="342900" lvl="0" indent="-342900" algn="just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string v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=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new string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 (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);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создали массив символов</a:t>
                      </a:r>
                    </a:p>
                    <a:p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создание строки из массива символов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[]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={'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'};	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 v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 string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0, 2)	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создание строки из части массива символов, при этом:  0  показывает с какого символа, 2 – сколько символов </a:t>
                      </a:r>
                    </a:p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использовать для инициализации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2800" dirty="0" smtClean="0">
                <a:solidFill>
                  <a:srgbClr val="FF0000"/>
                </a:solidFill>
              </a:rPr>
              <a:t>Методы работы со строками</a:t>
            </a:r>
            <a:endParaRPr lang="ru-RU" sz="2800" dirty="0">
              <a:solidFill>
                <a:srgbClr val="FF0000"/>
              </a:solidFill>
            </a:endParaRPr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179512" y="764713"/>
          <a:ext cx="8784976" cy="609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6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b="1" i="1" dirty="0">
                          <a:latin typeface="Times New Roman"/>
                          <a:ea typeface="Times New Roman"/>
                        </a:rPr>
                        <a:t>Название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b="1" i="1" dirty="0">
                          <a:latin typeface="Times New Roman"/>
                          <a:ea typeface="Times New Roman"/>
                        </a:rPr>
                        <a:t>Вид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b="1" i="1">
                          <a:latin typeface="Times New Roman"/>
                          <a:ea typeface="Times New Roman"/>
                        </a:rPr>
                        <a:t>Описание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2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Compare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Статический метод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Сравнение двух строк в лексикографическом (алфавитном) порядке. Разные реализации метода позволяют сравнивать строки с учетом или без учета регистра.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96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CompareTo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Метод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Сравнение текущего экземпляра строки с другой строкой.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2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Concat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Статический метод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Слияние произвольного числа строк.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4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Copy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Статический метод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Создание копии строки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2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Empty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Статическое поле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Открытое статическое поле, представляющее пустую строку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4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Format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Статический метод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Форматирование строки в соответствии  с заданным форматом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80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</a:rPr>
                        <a:t>IndexOf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, </a:t>
                      </a:r>
                      <a:r>
                        <a:rPr lang="en-US" sz="1100" dirty="0" err="1" smtClean="0">
                          <a:latin typeface="Times New Roman"/>
                          <a:ea typeface="Times New Roman"/>
                        </a:rPr>
                        <a:t>IndexOfAny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, </a:t>
                      </a:r>
                      <a:r>
                        <a:rPr lang="en-US" sz="1100" dirty="0" err="1">
                          <a:latin typeface="Times New Roman"/>
                          <a:ea typeface="Times New Roman"/>
                        </a:rPr>
                        <a:t>LastIndexOf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,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</a:rPr>
                        <a:t>LastIndexOfAny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 smtClean="0">
                          <a:latin typeface="Times New Roman"/>
                          <a:ea typeface="Times New Roman"/>
                        </a:rPr>
                        <a:t>Экземплярные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 методы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Определение индексов первого и последнего вхождения заданной подстроки или любого символа из заданного набора в данную строку.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2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Insert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 smtClean="0">
                          <a:latin typeface="Times New Roman"/>
                          <a:ea typeface="Times New Roman"/>
                        </a:rPr>
                        <a:t>Экземплярный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 метод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Вставка подстроки в заданную позицию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6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Join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Статический метод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Слияние массива строк в единую строку. Между элементами массива вставляются разделители.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880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Length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Свойство 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Возвращает длину строки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6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</a:rPr>
                        <a:t>PadLeft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, </a:t>
                      </a:r>
                      <a:r>
                        <a:rPr lang="en-US" sz="1100" dirty="0" err="1" smtClean="0">
                          <a:latin typeface="Times New Roman"/>
                          <a:ea typeface="Times New Roman"/>
                        </a:rPr>
                        <a:t>PadRigth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latin typeface="Times New Roman"/>
                          <a:ea typeface="Times New Roman"/>
                        </a:rPr>
                        <a:t>Экземплярные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методы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Выравнивают строки по левому или правому краю путем вставки нужного числа пробелов в начале или в конце строки.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861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Remove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latin typeface="Times New Roman"/>
                          <a:ea typeface="Times New Roman"/>
                        </a:rPr>
                        <a:t>Экземплярный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метод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Удаление подстроки из заданной позиции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2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Replace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latin typeface="Times New Roman"/>
                          <a:ea typeface="Times New Roman"/>
                        </a:rPr>
                        <a:t>Экземплярный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метод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Замена всех вхождений заданной подстроки или символа новыми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подстрокой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96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Split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latin typeface="Times New Roman"/>
                          <a:ea typeface="Times New Roman"/>
                        </a:rPr>
                        <a:t>Экземплярный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метод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Разделяет строку на элементы, используя разные разделители. Результаты помещаются в массив строк.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96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StartWith, EndWith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latin typeface="Times New Roman"/>
                          <a:ea typeface="Times New Roman"/>
                        </a:rPr>
                        <a:t>Экземплярные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методы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Возвращают true или false в зависимости от того, начинается или заканчивается строка заданной подстрокой.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01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Substring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latin typeface="Times New Roman"/>
                          <a:ea typeface="Times New Roman"/>
                        </a:rPr>
                        <a:t>Экземплярный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метод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Выделение подстроки, начиная с заданной позиции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4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ToCharArray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latin typeface="Times New Roman"/>
                          <a:ea typeface="Times New Roman"/>
                        </a:rPr>
                        <a:t>Экземплярный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 метод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Преобразует строку в массив символов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92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Times New Roman"/>
                          <a:ea typeface="Times New Roman"/>
                        </a:rPr>
                        <a:t>ToLower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, </a:t>
                      </a:r>
                      <a:r>
                        <a:rPr lang="en-US" sz="1100" dirty="0" err="1" smtClean="0">
                          <a:latin typeface="Times New Roman"/>
                          <a:ea typeface="Times New Roman"/>
                        </a:rPr>
                        <a:t>ToUpper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 smtClean="0">
                          <a:latin typeface="Times New Roman"/>
                          <a:ea typeface="Times New Roman"/>
                        </a:rPr>
                        <a:t>Экземплярный</a:t>
                      </a:r>
                      <a:r>
                        <a:rPr lang="ru-RU" sz="1100" baseline="0" dirty="0" smtClean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методы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>
                          <a:latin typeface="Times New Roman"/>
                          <a:ea typeface="Times New Roman"/>
                        </a:rPr>
                        <a:t>Преобразование строки к нижнему или верхнему регистру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696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Times New Roman"/>
                          <a:ea typeface="Times New Roman"/>
                        </a:rPr>
                        <a:t>Trim</a:t>
                      </a:r>
                      <a:r>
                        <a:rPr lang="ru-RU" sz="1100">
                          <a:latin typeface="Times New Roman"/>
                          <a:ea typeface="Times New Roman"/>
                        </a:rPr>
                        <a:t>, </a:t>
                      </a:r>
                      <a:r>
                        <a:rPr lang="en-US" sz="1100">
                          <a:latin typeface="Times New Roman"/>
                          <a:ea typeface="Times New Roman"/>
                        </a:rPr>
                        <a:t>TrimStart</a:t>
                      </a:r>
                      <a:r>
                        <a:rPr lang="ru-RU" sz="1100">
                          <a:latin typeface="Times New Roman"/>
                          <a:ea typeface="Times New Roman"/>
                        </a:rPr>
                        <a:t>, </a:t>
                      </a:r>
                      <a:r>
                        <a:rPr lang="en-US" sz="1100">
                          <a:latin typeface="Times New Roman"/>
                          <a:ea typeface="Times New Roman"/>
                        </a:rPr>
                        <a:t>TrimEnd</a:t>
                      </a:r>
                      <a:endParaRPr lang="ru-RU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latin typeface="Times New Roman"/>
                          <a:ea typeface="Times New Roman"/>
                        </a:rPr>
                        <a:t>Экземплярные</a:t>
                      </a: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100" dirty="0" smtClean="0">
                          <a:latin typeface="Times New Roman"/>
                          <a:ea typeface="Times New Roman"/>
                        </a:rPr>
                        <a:t>методы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100" dirty="0">
                          <a:latin typeface="Times New Roman"/>
                          <a:ea typeface="Times New Roman"/>
                        </a:rPr>
                        <a:t>Удаление пробелов в начале и конце строки или только с одного ее конца.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/>
                <a:ea typeface="Times New Roman"/>
              </a:rPr>
              <a:t>вызов статических методов происходит через обращение к имени класса:</a:t>
            </a:r>
          </a:p>
          <a:p>
            <a:pPr>
              <a:buNone/>
            </a:pPr>
            <a:r>
              <a:rPr lang="ru-RU" dirty="0" smtClean="0">
                <a:latin typeface="Times New Roman"/>
                <a:ea typeface="Times New Roman"/>
              </a:rPr>
              <a:t> </a:t>
            </a:r>
            <a:r>
              <a:rPr lang="ru-RU" b="1" i="1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String</a:t>
            </a:r>
            <a:r>
              <a:rPr lang="ru-RU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.</a:t>
            </a:r>
            <a:r>
              <a:rPr lang="en-US" b="1" i="1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Concat</a:t>
            </a:r>
            <a:r>
              <a:rPr lang="ru-RU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(</a:t>
            </a:r>
            <a:r>
              <a:rPr lang="en-US" b="1" i="1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str</a:t>
            </a:r>
            <a:r>
              <a:rPr lang="ru-RU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1, </a:t>
            </a:r>
            <a:r>
              <a:rPr lang="en-US" b="1" i="1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str</a:t>
            </a:r>
            <a:r>
              <a:rPr lang="ru-RU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2) </a:t>
            </a:r>
          </a:p>
          <a:p>
            <a:endParaRPr lang="ru-RU" dirty="0">
              <a:latin typeface="Times New Roman"/>
              <a:ea typeface="Times New Roman"/>
            </a:endParaRPr>
          </a:p>
          <a:p>
            <a:r>
              <a:rPr lang="ru-RU" dirty="0" smtClean="0">
                <a:latin typeface="Times New Roman"/>
                <a:ea typeface="Times New Roman"/>
              </a:rPr>
              <a:t>в остальных случаях через обращение к экземплярам класса:</a:t>
            </a:r>
          </a:p>
          <a:p>
            <a:pPr>
              <a:buNone/>
            </a:pPr>
            <a:r>
              <a:rPr lang="en-US" b="1" i="1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str</a:t>
            </a:r>
            <a:r>
              <a:rPr lang="ru-RU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.</a:t>
            </a:r>
            <a:r>
              <a:rPr lang="en-US" b="1" i="1" dirty="0" err="1" smtClean="0">
                <a:solidFill>
                  <a:srgbClr val="FF0000"/>
                </a:solidFill>
                <a:latin typeface="Times New Roman"/>
                <a:ea typeface="Times New Roman"/>
              </a:rPr>
              <a:t>ToLower</a:t>
            </a:r>
            <a:r>
              <a:rPr lang="ru-RU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()</a:t>
            </a:r>
            <a:endParaRPr lang="ru-RU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88640"/>
            <a:ext cx="8568952" cy="648072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class Program</a:t>
            </a:r>
            <a:r>
              <a:rPr lang="ru-RU" dirty="0" smtClean="0"/>
              <a:t>    </a:t>
            </a:r>
            <a:r>
              <a:rPr lang="ru-RU" dirty="0"/>
              <a:t>{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/>
              <a:t>static void Main</a:t>
            </a:r>
            <a:r>
              <a:rPr lang="en-US" dirty="0" smtClean="0"/>
              <a:t>()</a:t>
            </a:r>
            <a:r>
              <a:rPr lang="ru-RU" dirty="0" smtClean="0"/>
              <a:t>        </a:t>
            </a:r>
            <a:r>
              <a:rPr lang="ru-RU" dirty="0"/>
              <a:t>{</a:t>
            </a:r>
          </a:p>
          <a:p>
            <a:pPr>
              <a:buNone/>
            </a:pPr>
            <a:r>
              <a:rPr lang="en-US" dirty="0"/>
              <a:t>            string str1 = "</a:t>
            </a:r>
            <a:r>
              <a:rPr lang="ru-RU" dirty="0"/>
              <a:t>Первая строка</a:t>
            </a:r>
            <a:r>
              <a:rPr lang="ru-RU" dirty="0" smtClean="0"/>
              <a:t>";	</a:t>
            </a:r>
            <a:r>
              <a:rPr lang="en-US" dirty="0" smtClean="0"/>
              <a:t>            string str2 = </a:t>
            </a:r>
            <a:r>
              <a:rPr lang="en-US" dirty="0" err="1" smtClean="0"/>
              <a:t>string.Copy</a:t>
            </a:r>
            <a:r>
              <a:rPr lang="en-US" dirty="0" smtClean="0"/>
              <a:t>(str1);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/>
              <a:t>string str3 = "</a:t>
            </a:r>
            <a:r>
              <a:rPr lang="ru-RU" dirty="0"/>
              <a:t>Вторая </a:t>
            </a:r>
            <a:r>
              <a:rPr lang="ru-RU" dirty="0" smtClean="0"/>
              <a:t>строка«;	</a:t>
            </a:r>
            <a:r>
              <a:rPr lang="en-US" dirty="0" smtClean="0"/>
              <a:t>            string str4 = "</a:t>
            </a:r>
            <a:r>
              <a:rPr lang="ru-RU" dirty="0" smtClean="0"/>
              <a:t>ВТОРАЯ строка";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/>
              <a:t>string </a:t>
            </a:r>
            <a:r>
              <a:rPr lang="en-US" dirty="0" err="1"/>
              <a:t>strUp</a:t>
            </a:r>
            <a:r>
              <a:rPr lang="en-US" dirty="0"/>
              <a:t>, </a:t>
            </a:r>
            <a:r>
              <a:rPr lang="en-US" dirty="0" err="1"/>
              <a:t>strLow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int</a:t>
            </a:r>
            <a:r>
              <a:rPr lang="en-US" dirty="0" smtClean="0"/>
              <a:t> result, </a:t>
            </a:r>
            <a:r>
              <a:rPr lang="en-US" dirty="0" err="1" smtClean="0"/>
              <a:t>idx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("str1: " + str1</a:t>
            </a:r>
            <a:r>
              <a:rPr lang="en-US" dirty="0" smtClean="0"/>
              <a:t>);</a:t>
            </a:r>
            <a:r>
              <a:rPr lang="ru-RU" dirty="0"/>
              <a:t>	</a:t>
            </a:r>
            <a:r>
              <a:rPr lang="en-US" dirty="0" err="1" smtClean="0"/>
              <a:t>Console.WriteLine</a:t>
            </a:r>
            <a:r>
              <a:rPr lang="en-US" dirty="0" smtClean="0"/>
              <a:t>("str3: " + str3);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("str4: " + str4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("</a:t>
            </a:r>
            <a:r>
              <a:rPr lang="en-US" dirty="0" err="1" smtClean="0"/>
              <a:t>Длина</a:t>
            </a:r>
            <a:r>
              <a:rPr lang="en-US" dirty="0" smtClean="0"/>
              <a:t> </a:t>
            </a:r>
            <a:r>
              <a:rPr lang="en-US" dirty="0" err="1" smtClean="0"/>
              <a:t>строки</a:t>
            </a:r>
            <a:r>
              <a:rPr lang="en-US" dirty="0" smtClean="0"/>
              <a:t> str1: " + str1.Length);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>
                <a:solidFill>
                  <a:srgbClr val="00B050"/>
                </a:solidFill>
              </a:rPr>
              <a:t>            // Создаем прописную и строчную версии строки str1.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strLow</a:t>
            </a:r>
            <a:r>
              <a:rPr lang="en-US" dirty="0"/>
              <a:t> = str1.ToLower</a:t>
            </a:r>
            <a:r>
              <a:rPr lang="en-US" dirty="0" smtClean="0"/>
              <a:t>();</a:t>
            </a:r>
            <a:r>
              <a:rPr lang="ru-RU" dirty="0" smtClean="0"/>
              <a:t>	</a:t>
            </a:r>
            <a:r>
              <a:rPr lang="en-US" dirty="0" smtClean="0"/>
              <a:t>            </a:t>
            </a:r>
            <a:r>
              <a:rPr lang="en-US" dirty="0" err="1" smtClean="0"/>
              <a:t>strUp</a:t>
            </a:r>
            <a:r>
              <a:rPr lang="en-US" dirty="0" smtClean="0"/>
              <a:t> = str1.ToUpper();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Строчная версия строки </a:t>
            </a:r>
            <a:r>
              <a:rPr lang="en-US" dirty="0"/>
              <a:t>str1: " + </a:t>
            </a:r>
            <a:r>
              <a:rPr lang="en-US" dirty="0" err="1"/>
              <a:t>strLow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Прописная версия строки </a:t>
            </a:r>
            <a:r>
              <a:rPr lang="en-US" dirty="0"/>
              <a:t>str1: " + </a:t>
            </a:r>
            <a:r>
              <a:rPr lang="en-US" dirty="0" err="1"/>
              <a:t>strUp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();</a:t>
            </a:r>
          </a:p>
          <a:p>
            <a:pPr>
              <a:buNone/>
            </a:pPr>
            <a:endParaRPr lang="ru-RU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ru-RU" dirty="0">
                <a:solidFill>
                  <a:srgbClr val="00B050"/>
                </a:solidFill>
              </a:rPr>
              <a:t>            // Сравниваем строки,</a:t>
            </a:r>
          </a:p>
          <a:p>
            <a:pPr>
              <a:buNone/>
            </a:pPr>
            <a:r>
              <a:rPr lang="en-US" dirty="0"/>
              <a:t>            result = str1.CompareTo(str3</a:t>
            </a:r>
            <a:r>
              <a:rPr lang="en-US" dirty="0" smtClean="0"/>
              <a:t>);</a:t>
            </a:r>
            <a:endParaRPr lang="en-US" dirty="0"/>
          </a:p>
          <a:p>
            <a:pPr>
              <a:buNone/>
            </a:pPr>
            <a:r>
              <a:rPr lang="en-US" dirty="0"/>
              <a:t>            if (result == 0) </a:t>
            </a:r>
            <a:r>
              <a:rPr lang="en-US" dirty="0" err="1"/>
              <a:t>Console.WriteLine</a:t>
            </a:r>
            <a:r>
              <a:rPr lang="en-US" dirty="0"/>
              <a:t>("str1 и str3 </a:t>
            </a:r>
            <a:r>
              <a:rPr lang="en-US" dirty="0" err="1"/>
              <a:t>равны</a:t>
            </a:r>
            <a:r>
              <a:rPr lang="en-US" dirty="0"/>
              <a:t>.");</a:t>
            </a:r>
          </a:p>
          <a:p>
            <a:pPr>
              <a:buNone/>
            </a:pPr>
            <a:r>
              <a:rPr lang="en-US" dirty="0"/>
              <a:t>            else if (result &lt; 0) </a:t>
            </a:r>
            <a:r>
              <a:rPr lang="en-US" dirty="0" err="1"/>
              <a:t>Console.WriteLine</a:t>
            </a:r>
            <a:r>
              <a:rPr lang="en-US" dirty="0"/>
              <a:t>("str1 </a:t>
            </a:r>
            <a:r>
              <a:rPr lang="ru-RU" dirty="0"/>
              <a:t>меньше, чем </a:t>
            </a:r>
            <a:r>
              <a:rPr lang="en-US" dirty="0"/>
              <a:t>str3");</a:t>
            </a:r>
          </a:p>
          <a:p>
            <a:pPr>
              <a:buNone/>
            </a:pPr>
            <a:r>
              <a:rPr lang="it-IT" dirty="0"/>
              <a:t>            else Console.WriteLine("str1 больше, чем str3");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 smtClean="0"/>
              <a:t>();</a:t>
            </a:r>
            <a:endParaRPr lang="ru-RU" dirty="0"/>
          </a:p>
          <a:p>
            <a:pPr>
              <a:buNone/>
            </a:pPr>
            <a:r>
              <a:rPr lang="ru-RU" dirty="0">
                <a:solidFill>
                  <a:srgbClr val="00B050"/>
                </a:solidFill>
              </a:rPr>
              <a:t>           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88640"/>
            <a:ext cx="8568952" cy="666936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/>
              <a:t>          </a:t>
            </a:r>
            <a:r>
              <a:rPr lang="ru-RU" sz="1600" dirty="0" smtClean="0">
                <a:solidFill>
                  <a:srgbClr val="00B050"/>
                </a:solidFill>
              </a:rPr>
              <a:t>//сравниваем строки без учета регистра</a:t>
            </a:r>
          </a:p>
          <a:p>
            <a:pPr>
              <a:buNone/>
            </a:pPr>
            <a:r>
              <a:rPr lang="en-US" sz="1600" dirty="0" smtClean="0"/>
              <a:t>            result = </a:t>
            </a:r>
            <a:r>
              <a:rPr lang="en-US" sz="1600" dirty="0" err="1" smtClean="0"/>
              <a:t>String.Compare</a:t>
            </a:r>
            <a:r>
              <a:rPr lang="en-US" sz="1600" dirty="0" smtClean="0"/>
              <a:t>(str3, str4, true);</a:t>
            </a:r>
          </a:p>
          <a:p>
            <a:pPr>
              <a:buNone/>
            </a:pPr>
            <a:r>
              <a:rPr lang="ru-RU" sz="1600" dirty="0" smtClean="0"/>
              <a:t>	</a:t>
            </a:r>
            <a:r>
              <a:rPr lang="en-US" sz="1600" dirty="0" smtClean="0"/>
              <a:t>  </a:t>
            </a:r>
            <a:r>
              <a:rPr lang="en-US" sz="1600" dirty="0"/>
              <a:t>if (result == 0) </a:t>
            </a:r>
            <a:r>
              <a:rPr lang="en-US" sz="1600" dirty="0" err="1"/>
              <a:t>Console.WriteLine</a:t>
            </a:r>
            <a:r>
              <a:rPr lang="en-US" sz="1600" dirty="0"/>
              <a:t>("str3 </a:t>
            </a:r>
            <a:r>
              <a:rPr lang="ru-RU" sz="1600" dirty="0"/>
              <a:t>и </a:t>
            </a:r>
            <a:r>
              <a:rPr lang="en-US" sz="1600" dirty="0"/>
              <a:t>str4 </a:t>
            </a:r>
            <a:r>
              <a:rPr lang="ru-RU" sz="1600" dirty="0"/>
              <a:t>равны без учета регистра.");</a:t>
            </a:r>
          </a:p>
          <a:p>
            <a:pPr>
              <a:buNone/>
            </a:pPr>
            <a:r>
              <a:rPr lang="ru-RU" sz="1600" dirty="0"/>
              <a:t>            </a:t>
            </a:r>
            <a:r>
              <a:rPr lang="ru-RU" sz="1600" dirty="0" err="1"/>
              <a:t>else</a:t>
            </a:r>
            <a:r>
              <a:rPr lang="ru-RU" sz="1600" dirty="0"/>
              <a:t> </a:t>
            </a:r>
            <a:r>
              <a:rPr lang="ru-RU" sz="1600" dirty="0" err="1"/>
              <a:t>Console.WriteLine</a:t>
            </a:r>
            <a:r>
              <a:rPr lang="ru-RU" sz="1600" dirty="0"/>
              <a:t>("str3 и str4 не равны без учета регистра.");</a:t>
            </a:r>
          </a:p>
          <a:p>
            <a:pPr>
              <a:buNone/>
            </a:pPr>
            <a:r>
              <a:rPr lang="en-US" sz="1600" dirty="0"/>
              <a:t>            </a:t>
            </a:r>
            <a:r>
              <a:rPr lang="en-US" sz="1600" dirty="0" err="1"/>
              <a:t>Console.WriteLine</a:t>
            </a:r>
            <a:r>
              <a:rPr lang="en-US" sz="1600" dirty="0"/>
              <a:t>();</a:t>
            </a:r>
          </a:p>
          <a:p>
            <a:pPr>
              <a:buNone/>
            </a:pPr>
            <a:r>
              <a:rPr lang="ru-RU" sz="1600" dirty="0" smtClean="0">
                <a:solidFill>
                  <a:srgbClr val="00B050"/>
                </a:solidFill>
              </a:rPr>
              <a:t>            </a:t>
            </a:r>
            <a:r>
              <a:rPr lang="ru-RU" sz="1600" dirty="0">
                <a:solidFill>
                  <a:srgbClr val="00B050"/>
                </a:solidFill>
              </a:rPr>
              <a:t>//сравниваем части строк</a:t>
            </a:r>
          </a:p>
          <a:p>
            <a:pPr>
              <a:buNone/>
            </a:pPr>
            <a:r>
              <a:rPr lang="en-US" sz="1600" dirty="0"/>
              <a:t>            result = </a:t>
            </a:r>
            <a:r>
              <a:rPr lang="en-US" sz="1600" dirty="0" err="1"/>
              <a:t>String.Compare</a:t>
            </a:r>
            <a:r>
              <a:rPr lang="en-US" sz="1600" dirty="0"/>
              <a:t>(str1, 4, str2, 4, 2);</a:t>
            </a:r>
          </a:p>
          <a:p>
            <a:pPr>
              <a:buNone/>
            </a:pPr>
            <a:r>
              <a:rPr lang="en-US" sz="1600" dirty="0"/>
              <a:t>            if (result == 0) </a:t>
            </a:r>
            <a:r>
              <a:rPr lang="en-US" sz="1600" dirty="0" err="1"/>
              <a:t>Console.WriteLine</a:t>
            </a:r>
            <a:r>
              <a:rPr lang="en-US" sz="1600" dirty="0"/>
              <a:t>("</a:t>
            </a:r>
            <a:r>
              <a:rPr lang="ru-RU" sz="1600" dirty="0"/>
              <a:t>часть </a:t>
            </a:r>
            <a:r>
              <a:rPr lang="en-US" sz="1600" dirty="0"/>
              <a:t>str1 </a:t>
            </a:r>
            <a:r>
              <a:rPr lang="ru-RU" sz="1600" dirty="0"/>
              <a:t>и </a:t>
            </a:r>
            <a:r>
              <a:rPr lang="en-US" sz="1600" dirty="0"/>
              <a:t>str2 </a:t>
            </a:r>
            <a:r>
              <a:rPr lang="ru-RU" sz="1600" dirty="0"/>
              <a:t>равны");</a:t>
            </a:r>
          </a:p>
          <a:p>
            <a:pPr>
              <a:buNone/>
            </a:pPr>
            <a:r>
              <a:rPr lang="en-US" sz="1600" dirty="0"/>
              <a:t>            else </a:t>
            </a:r>
            <a:r>
              <a:rPr lang="en-US" sz="1600" dirty="0" err="1"/>
              <a:t>Console.WriteLine</a:t>
            </a:r>
            <a:r>
              <a:rPr lang="en-US" sz="1600" dirty="0"/>
              <a:t>("</a:t>
            </a:r>
            <a:r>
              <a:rPr lang="ru-RU" sz="1600" dirty="0"/>
              <a:t>часть </a:t>
            </a:r>
            <a:r>
              <a:rPr lang="en-US" sz="1600" dirty="0"/>
              <a:t>str1 </a:t>
            </a:r>
            <a:r>
              <a:rPr lang="ru-RU" sz="1600" dirty="0"/>
              <a:t>и </a:t>
            </a:r>
            <a:r>
              <a:rPr lang="en-US" sz="1600" dirty="0"/>
              <a:t>str2 </a:t>
            </a:r>
            <a:r>
              <a:rPr lang="ru-RU" sz="1600" dirty="0"/>
              <a:t>не равны</a:t>
            </a:r>
            <a:r>
              <a:rPr lang="ru-RU" sz="1600" dirty="0" smtClean="0"/>
              <a:t>");</a:t>
            </a:r>
            <a:r>
              <a:rPr lang="en-US" sz="1600" dirty="0" smtClean="0"/>
              <a:t>       </a:t>
            </a:r>
            <a:r>
              <a:rPr lang="en-US" sz="1600" dirty="0" err="1"/>
              <a:t>Console.WriteLine</a:t>
            </a:r>
            <a:r>
              <a:rPr lang="en-US" sz="1600" dirty="0"/>
              <a:t>();</a:t>
            </a:r>
          </a:p>
          <a:p>
            <a:pPr>
              <a:buNone/>
            </a:pPr>
            <a:r>
              <a:rPr lang="ru-RU" sz="1600" dirty="0" smtClean="0">
                <a:solidFill>
                  <a:srgbClr val="00B050"/>
                </a:solidFill>
              </a:rPr>
              <a:t>            </a:t>
            </a:r>
            <a:r>
              <a:rPr lang="ru-RU" sz="1600" dirty="0">
                <a:solidFill>
                  <a:srgbClr val="00B050"/>
                </a:solidFill>
              </a:rPr>
              <a:t>// Поиск строк.</a:t>
            </a:r>
          </a:p>
          <a:p>
            <a:pPr>
              <a:buNone/>
            </a:pPr>
            <a:r>
              <a:rPr lang="en-US" sz="1600" dirty="0"/>
              <a:t>            </a:t>
            </a:r>
            <a:r>
              <a:rPr lang="en-US" sz="1600" dirty="0" err="1"/>
              <a:t>idx</a:t>
            </a:r>
            <a:r>
              <a:rPr lang="en-US" sz="1600" dirty="0"/>
              <a:t> = str2.IndexOf("</a:t>
            </a:r>
            <a:r>
              <a:rPr lang="ru-RU" sz="1600" dirty="0"/>
              <a:t>строка");</a:t>
            </a:r>
          </a:p>
          <a:p>
            <a:pPr>
              <a:buNone/>
            </a:pPr>
            <a:r>
              <a:rPr lang="ru-RU" sz="1600" dirty="0"/>
              <a:t>            </a:t>
            </a:r>
            <a:r>
              <a:rPr lang="ru-RU" sz="1600" dirty="0" err="1"/>
              <a:t>Console.WriteLine</a:t>
            </a:r>
            <a:r>
              <a:rPr lang="ru-RU" sz="1600" dirty="0"/>
              <a:t>("Индекс первого вхождения подстроки строка: " + </a:t>
            </a:r>
            <a:r>
              <a:rPr lang="ru-RU" sz="1600" dirty="0" err="1"/>
              <a:t>idx</a:t>
            </a:r>
            <a:r>
              <a:rPr lang="ru-RU" sz="1600" dirty="0"/>
              <a:t>);</a:t>
            </a:r>
          </a:p>
          <a:p>
            <a:pPr>
              <a:buNone/>
            </a:pPr>
            <a:r>
              <a:rPr lang="en-US" sz="1600" dirty="0"/>
              <a:t>            </a:t>
            </a:r>
            <a:r>
              <a:rPr lang="en-US" sz="1600" dirty="0" err="1"/>
              <a:t>idx</a:t>
            </a:r>
            <a:r>
              <a:rPr lang="en-US" sz="1600" dirty="0"/>
              <a:t> = str2.LastIndexOf("</a:t>
            </a:r>
            <a:r>
              <a:rPr lang="ru-RU" sz="1600" dirty="0"/>
              <a:t>о");</a:t>
            </a:r>
          </a:p>
          <a:p>
            <a:pPr>
              <a:buNone/>
            </a:pPr>
            <a:r>
              <a:rPr lang="ru-RU" sz="1600" dirty="0"/>
              <a:t>            </a:t>
            </a:r>
            <a:r>
              <a:rPr lang="ru-RU" sz="1600" dirty="0" err="1"/>
              <a:t>Console.WriteLine</a:t>
            </a:r>
            <a:r>
              <a:rPr lang="ru-RU" sz="1600" dirty="0"/>
              <a:t>("Индекс последнего вхождения символа о: " + </a:t>
            </a:r>
            <a:r>
              <a:rPr lang="ru-RU" sz="1600" dirty="0" err="1"/>
              <a:t>idx</a:t>
            </a:r>
            <a:r>
              <a:rPr lang="ru-RU" sz="1600" dirty="0"/>
              <a:t>);</a:t>
            </a:r>
          </a:p>
          <a:p>
            <a:pPr>
              <a:buNone/>
            </a:pPr>
            <a:r>
              <a:rPr lang="ru-RU" sz="1600" dirty="0" smtClean="0">
                <a:solidFill>
                  <a:srgbClr val="00B050"/>
                </a:solidFill>
              </a:rPr>
              <a:t>            </a:t>
            </a:r>
            <a:r>
              <a:rPr lang="ru-RU" sz="1600" dirty="0">
                <a:solidFill>
                  <a:srgbClr val="00B050"/>
                </a:solidFill>
              </a:rPr>
              <a:t>//конкатенация</a:t>
            </a:r>
          </a:p>
          <a:p>
            <a:pPr>
              <a:buNone/>
            </a:pPr>
            <a:r>
              <a:rPr lang="en-US" sz="1600" dirty="0"/>
              <a:t>            string </a:t>
            </a:r>
            <a:r>
              <a:rPr lang="en-US" sz="1600" dirty="0" err="1"/>
              <a:t>str</a:t>
            </a:r>
            <a:r>
              <a:rPr lang="en-US" sz="1600" dirty="0"/>
              <a:t> = </a:t>
            </a:r>
            <a:r>
              <a:rPr lang="en-US" sz="1600" dirty="0" err="1"/>
              <a:t>String.Concat</a:t>
            </a:r>
            <a:r>
              <a:rPr lang="en-US" sz="1600" dirty="0"/>
              <a:t>(str1, str2, str3, str4);</a:t>
            </a:r>
          </a:p>
          <a:p>
            <a:pPr>
              <a:buNone/>
            </a:pPr>
            <a:r>
              <a:rPr lang="en-US" sz="1600" dirty="0"/>
              <a:t>            </a:t>
            </a:r>
            <a:r>
              <a:rPr lang="en-US" sz="1600" dirty="0" err="1"/>
              <a:t>Console.WriteLine</a:t>
            </a:r>
            <a:r>
              <a:rPr lang="en-US" sz="1600" dirty="0"/>
              <a:t>("</a:t>
            </a:r>
            <a:r>
              <a:rPr lang="ru-RU" sz="1600" dirty="0"/>
              <a:t>конкатенация"+ </a:t>
            </a:r>
            <a:r>
              <a:rPr lang="en-US" sz="1600" dirty="0" err="1"/>
              <a:t>str</a:t>
            </a:r>
            <a:r>
              <a:rPr lang="en-US" sz="1600" dirty="0"/>
              <a:t>);</a:t>
            </a:r>
          </a:p>
          <a:p>
            <a:pPr>
              <a:buNone/>
            </a:pPr>
            <a:r>
              <a:rPr lang="ru-RU" sz="1600" dirty="0" smtClean="0">
                <a:solidFill>
                  <a:srgbClr val="00B050"/>
                </a:solidFill>
              </a:rPr>
              <a:t>            </a:t>
            </a:r>
            <a:r>
              <a:rPr lang="ru-RU" sz="1600" dirty="0">
                <a:solidFill>
                  <a:srgbClr val="00B050"/>
                </a:solidFill>
              </a:rPr>
              <a:t>//удаление подстроки</a:t>
            </a:r>
          </a:p>
          <a:p>
            <a:pPr>
              <a:buNone/>
            </a:pPr>
            <a:r>
              <a:rPr lang="en-US" sz="1600" dirty="0"/>
              <a:t>            </a:t>
            </a:r>
            <a:r>
              <a:rPr lang="en-US" sz="1600" dirty="0" err="1"/>
              <a:t>str</a:t>
            </a:r>
            <a:r>
              <a:rPr lang="en-US" sz="1600" dirty="0"/>
              <a:t> = </a:t>
            </a:r>
            <a:r>
              <a:rPr lang="en-US" sz="1600" dirty="0" err="1"/>
              <a:t>str.Remove</a:t>
            </a:r>
            <a:r>
              <a:rPr lang="en-US" sz="1600" dirty="0"/>
              <a:t>(0, str1.Length</a:t>
            </a:r>
            <a:r>
              <a:rPr lang="en-US" sz="1600" dirty="0" smtClean="0"/>
              <a:t>);            </a:t>
            </a:r>
            <a:r>
              <a:rPr lang="en-US" sz="1600" dirty="0" err="1"/>
              <a:t>Console.WriteLine</a:t>
            </a:r>
            <a:r>
              <a:rPr lang="en-US" sz="1600" dirty="0"/>
              <a:t>(</a:t>
            </a:r>
            <a:r>
              <a:rPr lang="en-US" sz="1600" dirty="0" err="1"/>
              <a:t>str</a:t>
            </a:r>
            <a:r>
              <a:rPr lang="en-US" sz="1600" dirty="0"/>
              <a:t>);</a:t>
            </a:r>
          </a:p>
          <a:p>
            <a:pPr>
              <a:buNone/>
            </a:pPr>
            <a:r>
              <a:rPr lang="ru-RU" sz="1600" dirty="0" smtClean="0">
                <a:solidFill>
                  <a:srgbClr val="00B050"/>
                </a:solidFill>
              </a:rPr>
              <a:t>            </a:t>
            </a:r>
            <a:r>
              <a:rPr lang="ru-RU" sz="1600" dirty="0">
                <a:solidFill>
                  <a:srgbClr val="00B050"/>
                </a:solidFill>
              </a:rPr>
              <a:t>//замена подстроки "строка" на пустую подстроку</a:t>
            </a:r>
          </a:p>
          <a:p>
            <a:pPr>
              <a:buNone/>
            </a:pPr>
            <a:r>
              <a:rPr lang="en-US" sz="1600" dirty="0"/>
              <a:t>            </a:t>
            </a:r>
            <a:r>
              <a:rPr lang="en-US" sz="1600" dirty="0" err="1"/>
              <a:t>str</a:t>
            </a:r>
            <a:r>
              <a:rPr lang="en-US" sz="1600" dirty="0"/>
              <a:t> = </a:t>
            </a:r>
            <a:r>
              <a:rPr lang="en-US" sz="1600" dirty="0" err="1"/>
              <a:t>str.Replace</a:t>
            </a:r>
            <a:r>
              <a:rPr lang="en-US" sz="1600" dirty="0"/>
              <a:t>("</a:t>
            </a:r>
            <a:r>
              <a:rPr lang="ru-RU" sz="1600" dirty="0"/>
              <a:t>строка", </a:t>
            </a:r>
            <a:r>
              <a:rPr lang="ru-RU" sz="1600" dirty="0" smtClean="0"/>
              <a:t>"");</a:t>
            </a:r>
            <a:r>
              <a:rPr lang="en-US" sz="1600" dirty="0" smtClean="0"/>
              <a:t>            </a:t>
            </a:r>
            <a:r>
              <a:rPr lang="en-US" sz="1600" dirty="0" err="1"/>
              <a:t>Console.WriteLine</a:t>
            </a:r>
            <a:r>
              <a:rPr lang="en-US" sz="1600" dirty="0"/>
              <a:t>(</a:t>
            </a:r>
            <a:r>
              <a:rPr lang="en-US" sz="1600" dirty="0" err="1"/>
              <a:t>str</a:t>
            </a:r>
            <a:r>
              <a:rPr lang="en-US" sz="1600" dirty="0"/>
              <a:t>);</a:t>
            </a:r>
          </a:p>
          <a:p>
            <a:pPr>
              <a:buNone/>
            </a:pPr>
            <a:r>
              <a:rPr lang="ru-RU" sz="1600" dirty="0"/>
              <a:t>        </a:t>
            </a:r>
            <a:r>
              <a:rPr lang="ru-RU" sz="1600" dirty="0" smtClean="0"/>
              <a:t>}    }		}</a:t>
            </a:r>
            <a:endParaRPr lang="ru-RU" sz="1600" dirty="0"/>
          </a:p>
          <a:p>
            <a:pPr>
              <a:buNone/>
            </a:pPr>
            <a:endParaRPr lang="ru-RU" sz="1600" dirty="0"/>
          </a:p>
          <a:p>
            <a:pPr>
              <a:buNone/>
            </a:pPr>
            <a:endParaRPr lang="ru-RU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597" y="1196752"/>
            <a:ext cx="7789784" cy="4295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476672"/>
            <a:ext cx="8640960" cy="5649491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class </a:t>
            </a:r>
            <a:r>
              <a:rPr lang="en-US" dirty="0"/>
              <a:t>Program</a:t>
            </a:r>
          </a:p>
          <a:p>
            <a:pPr>
              <a:buNone/>
            </a:pPr>
            <a:r>
              <a:rPr lang="ru-RU" dirty="0"/>
              <a:t>    {</a:t>
            </a:r>
          </a:p>
          <a:p>
            <a:pPr>
              <a:buNone/>
            </a:pPr>
            <a:r>
              <a:rPr lang="ru-RU" sz="2900" dirty="0" smtClean="0"/>
              <a:t>   </a:t>
            </a:r>
            <a:r>
              <a:rPr lang="ru-RU" sz="2900" dirty="0" smtClean="0">
                <a:solidFill>
                  <a:srgbClr val="00B050"/>
                </a:solidFill>
              </a:rPr>
              <a:t>//  </a:t>
            </a:r>
            <a:r>
              <a:rPr lang="ru-RU" sz="2900" dirty="0">
                <a:solidFill>
                  <a:srgbClr val="00B050"/>
                </a:solidFill>
              </a:rPr>
              <a:t>методы разделения строки на элементы </a:t>
            </a:r>
            <a:r>
              <a:rPr lang="ru-RU" sz="2900" dirty="0" err="1">
                <a:solidFill>
                  <a:srgbClr val="00B050"/>
                </a:solidFill>
              </a:rPr>
              <a:t>Split</a:t>
            </a:r>
            <a:r>
              <a:rPr lang="ru-RU" sz="2900" dirty="0">
                <a:solidFill>
                  <a:srgbClr val="00B050"/>
                </a:solidFill>
              </a:rPr>
              <a:t> и слияние массива строк в единую строку </a:t>
            </a:r>
            <a:r>
              <a:rPr lang="ru-RU" sz="2900" dirty="0" err="1" smtClean="0">
                <a:solidFill>
                  <a:srgbClr val="00B050"/>
                </a:solidFill>
              </a:rPr>
              <a:t>Join</a:t>
            </a:r>
            <a:endParaRPr lang="ru-RU" sz="2900" dirty="0">
              <a:solidFill>
                <a:srgbClr val="00B050"/>
              </a:solidFill>
            </a:endParaRP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en-US" dirty="0"/>
              <a:t>static void Main()</a:t>
            </a:r>
          </a:p>
          <a:p>
            <a:pPr>
              <a:buNone/>
            </a:pPr>
            <a:r>
              <a:rPr lang="ru-RU" dirty="0"/>
              <a:t>   {</a:t>
            </a:r>
          </a:p>
          <a:p>
            <a:pPr>
              <a:buNone/>
            </a:pPr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poems</a:t>
            </a:r>
            <a:r>
              <a:rPr lang="ru-RU" dirty="0"/>
              <a:t> = "тучки небесные вечные странники";</a:t>
            </a:r>
          </a:p>
          <a:p>
            <a:pPr>
              <a:buNone/>
            </a:pPr>
            <a:r>
              <a:rPr lang="ru-RU" dirty="0" err="1"/>
              <a:t>char</a:t>
            </a:r>
            <a:r>
              <a:rPr lang="ru-RU" dirty="0"/>
              <a:t>[] </a:t>
            </a:r>
            <a:r>
              <a:rPr lang="ru-RU" dirty="0" err="1"/>
              <a:t>div</a:t>
            </a:r>
            <a:r>
              <a:rPr lang="ru-RU" dirty="0"/>
              <a:t> = { ' '}; </a:t>
            </a:r>
            <a:r>
              <a:rPr lang="ru-RU" dirty="0" smtClean="0"/>
              <a:t>	</a:t>
            </a:r>
            <a:r>
              <a:rPr lang="ru-RU" dirty="0" smtClean="0">
                <a:solidFill>
                  <a:srgbClr val="00B050"/>
                </a:solidFill>
              </a:rPr>
              <a:t>//</a:t>
            </a:r>
            <a:r>
              <a:rPr lang="ru-RU" dirty="0">
                <a:solidFill>
                  <a:srgbClr val="00B050"/>
                </a:solidFill>
              </a:rPr>
              <a:t>создаем массив разделителей</a:t>
            </a:r>
          </a:p>
          <a:p>
            <a:pPr>
              <a:buNone/>
            </a:pPr>
            <a:r>
              <a:rPr lang="ru-RU" dirty="0">
                <a:solidFill>
                  <a:srgbClr val="00B050"/>
                </a:solidFill>
              </a:rPr>
              <a:t>// Разбиваем строку на части,</a:t>
            </a:r>
          </a:p>
          <a:p>
            <a:pPr>
              <a:buNone/>
            </a:pPr>
            <a:r>
              <a:rPr lang="en-US" dirty="0"/>
              <a:t>string[] parts = </a:t>
            </a:r>
            <a:r>
              <a:rPr lang="en-US" dirty="0" err="1"/>
              <a:t>poems.Split</a:t>
            </a:r>
            <a:r>
              <a:rPr lang="en-US" dirty="0"/>
              <a:t>(div);</a:t>
            </a:r>
          </a:p>
          <a:p>
            <a:pPr>
              <a:buNone/>
            </a:pPr>
            <a:r>
              <a:rPr lang="ru-RU" dirty="0" err="1"/>
              <a:t>Console.WriteLine</a:t>
            </a:r>
            <a:r>
              <a:rPr lang="ru-RU" dirty="0"/>
              <a:t>("Результат разбиения строки на части: ");</a:t>
            </a:r>
          </a:p>
          <a:p>
            <a:pPr>
              <a:buNone/>
            </a:pP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parts.Length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Console.WriteLine</a:t>
            </a:r>
            <a:r>
              <a:rPr lang="en-US" dirty="0"/>
              <a:t>(parts[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>
              <a:buNone/>
            </a:pPr>
            <a:r>
              <a:rPr lang="ru-RU" sz="2900" dirty="0">
                <a:solidFill>
                  <a:srgbClr val="00B050"/>
                </a:solidFill>
              </a:rPr>
              <a:t>// Теперь собираем эти части в одну строку, в качестве разделителя используем символ |</a:t>
            </a:r>
          </a:p>
          <a:p>
            <a:pPr>
              <a:buNone/>
            </a:pPr>
            <a:r>
              <a:rPr lang="en-US" dirty="0"/>
              <a:t>string whole = </a:t>
            </a:r>
            <a:r>
              <a:rPr lang="en-US" dirty="0" err="1"/>
              <a:t>String.Join</a:t>
            </a:r>
            <a:r>
              <a:rPr lang="en-US" dirty="0"/>
              <a:t>(" | ", parts);</a:t>
            </a:r>
          </a:p>
          <a:p>
            <a:pPr>
              <a:buNone/>
            </a:pP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Результат сборки: ");</a:t>
            </a:r>
          </a:p>
          <a:p>
            <a:pPr>
              <a:buNone/>
            </a:pPr>
            <a:r>
              <a:rPr lang="en-US" dirty="0" err="1"/>
              <a:t>Console.WriteLine</a:t>
            </a:r>
            <a:r>
              <a:rPr lang="en-US" dirty="0"/>
              <a:t>(whole);</a:t>
            </a:r>
          </a:p>
          <a:p>
            <a:pPr>
              <a:buNone/>
            </a:pPr>
            <a:r>
              <a:rPr lang="ru-RU" dirty="0"/>
              <a:t>   </a:t>
            </a:r>
            <a:r>
              <a:rPr lang="ru-RU" dirty="0" smtClean="0"/>
              <a:t>}    </a:t>
            </a:r>
            <a:r>
              <a:rPr lang="ru-RU" dirty="0"/>
              <a:t>}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t="14632" r="10603" b="21962"/>
          <a:stretch>
            <a:fillRect/>
          </a:stretch>
        </p:blipFill>
        <p:spPr bwMode="auto">
          <a:xfrm>
            <a:off x="4533226" y="4653136"/>
            <a:ext cx="458635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dirty="0" smtClean="0">
                <a:latin typeface="Times New Roman"/>
                <a:ea typeface="Times New Roman"/>
              </a:rPr>
              <a:t>При работе с объектами класса </a:t>
            </a:r>
            <a:r>
              <a:rPr lang="en-US" sz="2800" dirty="0" smtClean="0">
                <a:latin typeface="Times New Roman"/>
                <a:ea typeface="Times New Roman"/>
              </a:rPr>
              <a:t>string</a:t>
            </a:r>
            <a:r>
              <a:rPr lang="ru-RU" sz="2800" dirty="0" smtClean="0">
                <a:latin typeface="Times New Roman"/>
                <a:ea typeface="Times New Roman"/>
              </a:rPr>
              <a:t> нужно учитывать их свойство неизменяемости, т.е. методы изменяют не сами строки, а их копии. 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457200" algn="just">
              <a:spcAft>
                <a:spcPts val="0"/>
              </a:spcAft>
              <a:buNone/>
            </a:pPr>
            <a:r>
              <a:rPr lang="ru-RU" dirty="0" smtClean="0">
                <a:latin typeface="Times New Roman"/>
                <a:ea typeface="Times New Roman"/>
              </a:rPr>
              <a:t> </a:t>
            </a:r>
          </a:p>
          <a:p>
            <a:pPr>
              <a:spcAft>
                <a:spcPts val="0"/>
              </a:spcAft>
              <a:buNone/>
            </a:pPr>
            <a:r>
              <a:rPr lang="en-US" dirty="0" smtClean="0">
                <a:latin typeface="Times New Roman"/>
                <a:ea typeface="Times New Roman"/>
              </a:rPr>
              <a:t>string a</a:t>
            </a:r>
            <a:r>
              <a:rPr lang="ru-RU" dirty="0" smtClean="0">
                <a:latin typeface="Times New Roman"/>
                <a:ea typeface="Times New Roman"/>
              </a:rPr>
              <a:t>="";</a:t>
            </a:r>
          </a:p>
          <a:p>
            <a:pPr>
              <a:spcAft>
                <a:spcPts val="0"/>
              </a:spcAft>
              <a:buNone/>
            </a:pPr>
            <a:r>
              <a:rPr lang="en-US" dirty="0" smtClean="0">
                <a:latin typeface="Times New Roman"/>
                <a:ea typeface="Times New Roman"/>
              </a:rPr>
              <a:t>for (</a:t>
            </a:r>
            <a:r>
              <a:rPr lang="en-US" dirty="0" err="1" smtClean="0">
                <a:latin typeface="Times New Roman"/>
                <a:ea typeface="Times New Roman"/>
              </a:rPr>
              <a:t>int</a:t>
            </a:r>
            <a:r>
              <a:rPr lang="en-US" dirty="0" smtClean="0">
                <a:latin typeface="Times New Roman"/>
                <a:ea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</a:rPr>
              <a:t>i</a:t>
            </a:r>
            <a:r>
              <a:rPr lang="en-US" dirty="0" smtClean="0">
                <a:latin typeface="Times New Roman"/>
                <a:ea typeface="Times New Roman"/>
              </a:rPr>
              <a:t> = 1; </a:t>
            </a:r>
            <a:r>
              <a:rPr lang="en-US" dirty="0" err="1" smtClean="0">
                <a:latin typeface="Times New Roman"/>
                <a:ea typeface="Times New Roman"/>
              </a:rPr>
              <a:t>i</a:t>
            </a:r>
            <a:r>
              <a:rPr lang="en-US" dirty="0" smtClean="0">
                <a:latin typeface="Times New Roman"/>
                <a:ea typeface="Times New Roman"/>
              </a:rPr>
              <a:t> &lt;= 100; </a:t>
            </a:r>
            <a:r>
              <a:rPr lang="en-US" dirty="0" err="1" smtClean="0">
                <a:latin typeface="Times New Roman"/>
                <a:ea typeface="Times New Roman"/>
              </a:rPr>
              <a:t>i</a:t>
            </a:r>
            <a:r>
              <a:rPr lang="en-US" dirty="0" smtClean="0">
                <a:latin typeface="Times New Roman"/>
                <a:ea typeface="Times New Roman"/>
              </a:rPr>
              <a:t>++) a +="!";</a:t>
            </a:r>
            <a:endParaRPr lang="ru-RU" dirty="0" smtClean="0">
              <a:latin typeface="Times New Roman"/>
              <a:ea typeface="Times New Roman"/>
            </a:endParaRPr>
          </a:p>
          <a:p>
            <a:pPr algn="just">
              <a:spcAft>
                <a:spcPts val="0"/>
              </a:spcAft>
              <a:buNone/>
            </a:pPr>
            <a:r>
              <a:rPr lang="en-US" dirty="0" smtClean="0">
                <a:latin typeface="Times New Roman"/>
                <a:ea typeface="Times New Roman"/>
              </a:rPr>
              <a:t>Console</a:t>
            </a:r>
            <a:r>
              <a:rPr lang="ru-RU" dirty="0" smtClean="0">
                <a:latin typeface="Times New Roman"/>
                <a:ea typeface="Times New Roman"/>
              </a:rPr>
              <a:t>.</a:t>
            </a:r>
            <a:r>
              <a:rPr lang="en-US" dirty="0" err="1" smtClean="0">
                <a:latin typeface="Times New Roman"/>
                <a:ea typeface="Times New Roman"/>
              </a:rPr>
              <a:t>WriteLine</a:t>
            </a:r>
            <a:r>
              <a:rPr lang="ru-RU" dirty="0" smtClean="0">
                <a:latin typeface="Times New Roman"/>
                <a:ea typeface="Times New Roman"/>
              </a:rPr>
              <a:t>(</a:t>
            </a:r>
            <a:r>
              <a:rPr lang="en-US" dirty="0" smtClean="0">
                <a:latin typeface="Times New Roman"/>
                <a:ea typeface="Times New Roman"/>
              </a:rPr>
              <a:t>a</a:t>
            </a:r>
            <a:r>
              <a:rPr lang="ru-RU" dirty="0" smtClean="0">
                <a:latin typeface="Times New Roman"/>
                <a:ea typeface="Times New Roman"/>
              </a:rPr>
              <a:t>);</a:t>
            </a:r>
          </a:p>
          <a:p>
            <a:pPr algn="just">
              <a:spcAft>
                <a:spcPts val="0"/>
              </a:spcAft>
              <a:buNone/>
            </a:pPr>
            <a:r>
              <a:rPr lang="ru-RU" dirty="0" smtClean="0">
                <a:latin typeface="Times New Roman"/>
                <a:ea typeface="Times New Roman"/>
              </a:rPr>
              <a:t> </a:t>
            </a:r>
          </a:p>
          <a:p>
            <a:pPr indent="457200" algn="just">
              <a:spcAft>
                <a:spcPts val="0"/>
              </a:spcAft>
              <a:buNone/>
            </a:pPr>
            <a:r>
              <a:rPr lang="ru-RU" dirty="0" smtClean="0">
                <a:latin typeface="Times New Roman"/>
                <a:ea typeface="Times New Roman"/>
              </a:rPr>
              <a:t>В этом случае в памяти компьютера будет сформировано 100 различных строк вида:</a:t>
            </a:r>
          </a:p>
          <a:p>
            <a:pPr algn="just">
              <a:spcAft>
                <a:spcPts val="0"/>
              </a:spcAft>
              <a:buNone/>
            </a:pPr>
            <a:r>
              <a:rPr lang="ru-RU" dirty="0" smtClean="0">
                <a:latin typeface="Times New Roman"/>
                <a:ea typeface="Times New Roman"/>
              </a:rPr>
              <a:t>!</a:t>
            </a:r>
          </a:p>
          <a:p>
            <a:pPr algn="just">
              <a:spcAft>
                <a:spcPts val="0"/>
              </a:spcAft>
              <a:buNone/>
            </a:pPr>
            <a:r>
              <a:rPr lang="ru-RU" dirty="0" smtClean="0">
                <a:latin typeface="Times New Roman"/>
                <a:ea typeface="Times New Roman"/>
              </a:rPr>
              <a:t>!!</a:t>
            </a:r>
          </a:p>
          <a:p>
            <a:pPr algn="just">
              <a:buNone/>
            </a:pPr>
            <a:r>
              <a:rPr lang="ru-RU" dirty="0" smtClean="0">
                <a:latin typeface="Times New Roman"/>
                <a:ea typeface="Times New Roman"/>
              </a:rPr>
              <a:t>!!!</a:t>
            </a:r>
          </a:p>
          <a:p>
            <a:pPr algn="just">
              <a:spcAft>
                <a:spcPts val="0"/>
              </a:spcAft>
              <a:buNone/>
            </a:pPr>
            <a:r>
              <a:rPr lang="ru-RU" dirty="0" smtClean="0">
                <a:latin typeface="Times New Roman"/>
                <a:ea typeface="Times New Roman"/>
              </a:rPr>
              <a:t>…</a:t>
            </a:r>
          </a:p>
          <a:p>
            <a:pPr algn="just">
              <a:spcAft>
                <a:spcPts val="0"/>
              </a:spcAft>
              <a:buNone/>
            </a:pPr>
            <a:r>
              <a:rPr lang="ru-RU" dirty="0" smtClean="0">
                <a:latin typeface="Times New Roman"/>
                <a:ea typeface="Times New Roman"/>
              </a:rPr>
              <a:t>!!!...!! </a:t>
            </a:r>
          </a:p>
          <a:p>
            <a:pPr>
              <a:buNone/>
            </a:pPr>
            <a:r>
              <a:rPr lang="ru-RU" dirty="0" smtClean="0">
                <a:latin typeface="Times New Roman"/>
                <a:ea typeface="Times New Roman"/>
              </a:rPr>
              <a:t>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283968" y="3861048"/>
            <a:ext cx="45365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/>
                <a:ea typeface="Times New Roman"/>
              </a:rPr>
              <a:t>Только последняя строка будет храниться в переменной </a:t>
            </a:r>
            <a:r>
              <a:rPr lang="ru-RU" dirty="0" smtClean="0">
                <a:solidFill>
                  <a:srgbClr val="FF0000"/>
                </a:solidFill>
                <a:latin typeface="Times New Roman"/>
                <a:ea typeface="Times New Roman"/>
              </a:rPr>
              <a:t>а</a:t>
            </a:r>
            <a:r>
              <a:rPr lang="ru-RU" dirty="0" smtClean="0">
                <a:latin typeface="Times New Roman"/>
                <a:ea typeface="Times New Roman"/>
              </a:rPr>
              <a:t>. </a:t>
            </a:r>
          </a:p>
          <a:p>
            <a:r>
              <a:rPr lang="ru-RU" dirty="0" smtClean="0">
                <a:latin typeface="Times New Roman"/>
                <a:ea typeface="Times New Roman"/>
              </a:rPr>
              <a:t>Ссылки на все остальные строчки будут потеряны, но эти строки будут храниться в памяти компьютера и засорять память. Бороться с таким засорением придется сборщику мусора, что будет сказываться на производительности программы, поэтому если нужно изменять строку, то лучше пользоваться классом </a:t>
            </a:r>
            <a:r>
              <a:rPr lang="ru-RU" b="1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StringB</a:t>
            </a:r>
            <a:r>
              <a:rPr lang="en-US" b="1" dirty="0" smtClean="0">
                <a:solidFill>
                  <a:srgbClr val="7030A0"/>
                </a:solidFill>
                <a:latin typeface="Times New Roman"/>
                <a:ea typeface="Times New Roman"/>
              </a:rPr>
              <a:t>u</a:t>
            </a:r>
            <a:r>
              <a:rPr lang="ru-RU" b="1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ilder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 New Roman"/>
              </a:rPr>
              <a:t>. </a:t>
            </a:r>
          </a:p>
          <a:p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rot="10800000" flipV="1">
            <a:off x="1331640" y="4149080"/>
            <a:ext cx="2952328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Изменяемые строки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616624"/>
          </a:xfrm>
        </p:spPr>
        <p:txBody>
          <a:bodyPr>
            <a:normAutofit/>
          </a:bodyPr>
          <a:lstStyle/>
          <a:p>
            <a:pPr indent="457200" algn="just">
              <a:spcAft>
                <a:spcPts val="0"/>
              </a:spcAft>
            </a:pPr>
            <a:r>
              <a:rPr lang="ru-RU" sz="1800" dirty="0" smtClean="0">
                <a:latin typeface="Times New Roman"/>
                <a:ea typeface="Times New Roman"/>
              </a:rPr>
              <a:t>Чтобы создать строку, которую можно изменять, в С# предусмотрен класс </a:t>
            </a:r>
            <a:r>
              <a:rPr lang="ru-RU" sz="1800" b="1" i="1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StringBuilder</a:t>
            </a:r>
            <a:r>
              <a:rPr lang="ru-RU" sz="1800" dirty="0" smtClean="0">
                <a:latin typeface="Times New Roman"/>
                <a:ea typeface="Times New Roman"/>
              </a:rPr>
              <a:t>, определенный в пространстве имен </a:t>
            </a:r>
            <a:r>
              <a:rPr lang="ru-RU" sz="1800" b="1" i="1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System.Text</a:t>
            </a:r>
            <a:r>
              <a:rPr lang="ru-RU" sz="1800" dirty="0" smtClean="0">
                <a:latin typeface="Times New Roman"/>
                <a:ea typeface="Times New Roman"/>
              </a:rPr>
              <a:t>. Объекты этого класса всегда объявляются с явным вызовом конструктора класса (через операцию </a:t>
            </a:r>
            <a:r>
              <a:rPr lang="ru-RU" sz="1800" dirty="0" err="1" smtClean="0">
                <a:latin typeface="Times New Roman"/>
                <a:ea typeface="Times New Roman"/>
              </a:rPr>
              <a:t>new</a:t>
            </a:r>
            <a:r>
              <a:rPr lang="ru-RU" sz="1800" dirty="0" smtClean="0">
                <a:latin typeface="Times New Roman"/>
                <a:ea typeface="Times New Roman"/>
              </a:rPr>
              <a:t>) . </a:t>
            </a:r>
          </a:p>
          <a:p>
            <a:pPr>
              <a:buNone/>
            </a:pPr>
            <a:endParaRPr lang="ru-RU" sz="2900" dirty="0" smtClean="0">
              <a:latin typeface="Times New Roman"/>
            </a:endParaRPr>
          </a:p>
          <a:p>
            <a:pPr>
              <a:buNone/>
            </a:pPr>
            <a:endParaRPr lang="ru-RU" sz="2900" dirty="0" smtClean="0">
              <a:latin typeface="Times New Roman"/>
            </a:endParaRPr>
          </a:p>
          <a:p>
            <a:pPr>
              <a:buNone/>
            </a:pPr>
            <a:endParaRPr lang="ru-RU" sz="2900" dirty="0" smtClean="0">
              <a:latin typeface="Times New Roman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827584" y="2492896"/>
          <a:ext cx="7920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ru-RU" sz="1800" dirty="0" smtClean="0">
                          <a:latin typeface="Times New Roman"/>
                        </a:rPr>
                        <a:t> </a:t>
                      </a:r>
                      <a:r>
                        <a:rPr lang="ru-RU" sz="1800" dirty="0" err="1" smtClean="0">
                          <a:latin typeface="Times New Roman"/>
                        </a:rPr>
                        <a:t>a</a:t>
                      </a:r>
                      <a:r>
                        <a:rPr lang="ru-RU" sz="1800" dirty="0" smtClean="0">
                          <a:latin typeface="Times New Roman"/>
                        </a:rPr>
                        <a:t> =</a:t>
                      </a:r>
                      <a:r>
                        <a:rPr lang="en-US" sz="1800" dirty="0" smtClean="0">
                          <a:latin typeface="Times New Roman"/>
                        </a:rPr>
                        <a:t>new </a:t>
                      </a:r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ru-RU" sz="1800" dirty="0" smtClean="0">
                          <a:latin typeface="Times New Roman"/>
                        </a:rPr>
                        <a:t>();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</a:rPr>
                        <a:t>инициализация строки и выделение необходимой памяти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en-US" sz="1800" dirty="0" smtClean="0">
                          <a:latin typeface="Times New Roman"/>
                        </a:rPr>
                        <a:t> d = new </a:t>
                      </a:r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en-US" sz="1800" dirty="0" smtClean="0">
                          <a:latin typeface="Times New Roman"/>
                        </a:rPr>
                        <a:t>("</a:t>
                      </a:r>
                      <a:r>
                        <a:rPr lang="en-US" sz="1800" dirty="0" err="1" smtClean="0">
                          <a:latin typeface="Times New Roman"/>
                        </a:rPr>
                        <a:t>abcd</a:t>
                      </a:r>
                      <a:r>
                        <a:rPr lang="en-US" sz="1800" dirty="0" smtClean="0">
                          <a:latin typeface="Times New Roman"/>
                        </a:rPr>
                        <a:t>", 100);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</a:rPr>
                        <a:t>инициализация строки и выделение памяти под 100 символов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en-US" sz="1800" dirty="0" smtClean="0">
                          <a:latin typeface="Times New Roman"/>
                        </a:rPr>
                        <a:t> b = new </a:t>
                      </a:r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en-US" sz="1800" dirty="0" smtClean="0">
                          <a:latin typeface="Times New Roman"/>
                        </a:rPr>
                        <a:t>("</a:t>
                      </a:r>
                      <a:r>
                        <a:rPr lang="en-US" sz="1800" dirty="0" err="1" smtClean="0">
                          <a:latin typeface="Times New Roman"/>
                        </a:rPr>
                        <a:t>abcd</a:t>
                      </a:r>
                      <a:r>
                        <a:rPr lang="en-US" sz="1800" dirty="0" smtClean="0">
                          <a:latin typeface="Times New Roman"/>
                        </a:rPr>
                        <a:t>");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</a:rPr>
                        <a:t>создание пустой строки, размер по умолчанию 16 символов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ru-RU" sz="1800" dirty="0" smtClean="0">
                          <a:latin typeface="Times New Roman"/>
                        </a:rPr>
                        <a:t> с = </a:t>
                      </a:r>
                      <a:r>
                        <a:rPr lang="en-US" sz="1800" dirty="0" smtClean="0">
                          <a:latin typeface="Times New Roman"/>
                        </a:rPr>
                        <a:t>new </a:t>
                      </a:r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ru-RU" sz="1800" dirty="0" smtClean="0">
                          <a:latin typeface="Times New Roman"/>
                        </a:rPr>
                        <a:t>(100);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/>
                        </a:rPr>
                        <a:t>создание пустой строки и выделение памяти под 100 символов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ru-RU" sz="1800" dirty="0" smtClean="0">
                          <a:latin typeface="Times New Roman"/>
                        </a:rPr>
                        <a:t> </a:t>
                      </a:r>
                      <a:r>
                        <a:rPr lang="ru-RU" sz="1800" dirty="0" err="1" smtClean="0">
                          <a:latin typeface="Times New Roman"/>
                        </a:rPr>
                        <a:t>d</a:t>
                      </a:r>
                      <a:r>
                        <a:rPr lang="ru-RU" sz="1800" dirty="0" smtClean="0">
                          <a:latin typeface="Times New Roman"/>
                        </a:rPr>
                        <a:t> = </a:t>
                      </a:r>
                      <a:r>
                        <a:rPr lang="en-US" sz="1800" dirty="0" smtClean="0">
                          <a:latin typeface="Times New Roman"/>
                        </a:rPr>
                        <a:t>new </a:t>
                      </a:r>
                      <a:r>
                        <a:rPr lang="en-US" sz="1800" dirty="0" err="1" smtClean="0">
                          <a:latin typeface="Times New Roman"/>
                        </a:rPr>
                        <a:t>StringBuilder</a:t>
                      </a:r>
                      <a:r>
                        <a:rPr lang="ru-RU" sz="1800" dirty="0" smtClean="0">
                          <a:latin typeface="Times New Roman"/>
                        </a:rPr>
                        <a:t>("</a:t>
                      </a:r>
                      <a:r>
                        <a:rPr lang="ru-RU" sz="1800" dirty="0" err="1" smtClean="0">
                          <a:latin typeface="Times New Roman"/>
                        </a:rPr>
                        <a:t>abcd</a:t>
                      </a:r>
                      <a:r>
                        <a:rPr lang="ru-RU" sz="1800" dirty="0" smtClean="0">
                          <a:latin typeface="Times New Roman"/>
                        </a:rPr>
                        <a:t>", 1, 3,100); </a:t>
                      </a:r>
                      <a:endParaRPr lang="ru-RU" sz="1800" dirty="0" smtClean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/>
                        </a:rPr>
                        <a:t>инициализация подстрокой "</a:t>
                      </a:r>
                      <a:r>
                        <a:rPr lang="ru-RU" sz="1800" dirty="0" err="1" smtClean="0">
                          <a:latin typeface="Times New Roman"/>
                        </a:rPr>
                        <a:t>bcd</a:t>
                      </a:r>
                      <a:r>
                        <a:rPr lang="ru-RU" sz="1800" dirty="0" smtClean="0">
                          <a:latin typeface="Times New Roman"/>
                        </a:rPr>
                        <a:t>", и выделение памяти под 100 символов</a:t>
                      </a:r>
                      <a:endParaRPr lang="ru-RU" dirty="0" smtClean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435280" cy="6336704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/>
              <a:t>static void Main</a:t>
            </a:r>
            <a:r>
              <a:rPr lang="en-US" dirty="0" smtClean="0"/>
              <a:t>()</a:t>
            </a:r>
            <a:r>
              <a:rPr lang="en-US" dirty="0"/>
              <a:t>	{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smtClean="0"/>
              <a:t>try</a:t>
            </a:r>
            <a:r>
              <a:rPr lang="en-US" dirty="0"/>
              <a:t>		{ 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StringBuilder</a:t>
            </a:r>
            <a:r>
              <a:rPr lang="en-US" dirty="0"/>
              <a:t> </a:t>
            </a:r>
            <a:r>
              <a:rPr lang="en-US" dirty="0" err="1"/>
              <a:t>str</a:t>
            </a:r>
            <a:r>
              <a:rPr lang="en-US" dirty="0"/>
              <a:t>=new </a:t>
            </a:r>
            <a:r>
              <a:rPr lang="en-US" dirty="0" err="1"/>
              <a:t>StringBuilder</a:t>
            </a:r>
            <a:r>
              <a:rPr lang="en-US" dirty="0"/>
              <a:t>("</a:t>
            </a:r>
            <a:r>
              <a:rPr lang="ru-RU" dirty="0"/>
              <a:t>Площадь</a:t>
            </a:r>
            <a:r>
              <a:rPr lang="en-US" dirty="0" smtClean="0"/>
              <a:t>");</a:t>
            </a:r>
            <a:r>
              <a:rPr lang="en-US" dirty="0"/>
              <a:t>	</a:t>
            </a:r>
            <a:r>
              <a:rPr lang="en-US" dirty="0" err="1"/>
              <a:t>PrintString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);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str.Append</a:t>
            </a:r>
            <a:r>
              <a:rPr lang="en-US" dirty="0"/>
              <a:t>(" </a:t>
            </a:r>
            <a:r>
              <a:rPr lang="ru-RU" dirty="0"/>
              <a:t>треугольника равна</a:t>
            </a:r>
            <a:r>
              <a:rPr lang="en-US" dirty="0"/>
              <a:t>");	</a:t>
            </a:r>
            <a:r>
              <a:rPr lang="ru-RU" dirty="0" smtClean="0"/>
              <a:t>	</a:t>
            </a:r>
            <a:r>
              <a:rPr lang="en-US" dirty="0" err="1" smtClean="0"/>
              <a:t>PrintString</a:t>
            </a:r>
            <a:r>
              <a:rPr lang="en-US" dirty="0" smtClean="0"/>
              <a:t>(</a:t>
            </a:r>
            <a:r>
              <a:rPr lang="en-US" dirty="0" err="1" smtClean="0"/>
              <a:t>str</a:t>
            </a:r>
            <a:r>
              <a:rPr lang="en-US" dirty="0"/>
              <a:t>);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str.AppendFormat</a:t>
            </a:r>
            <a:r>
              <a:rPr lang="en-US" dirty="0"/>
              <a:t>(" {</a:t>
            </a:r>
            <a:r>
              <a:rPr lang="en-US" dirty="0" smtClean="0"/>
              <a:t>0} </a:t>
            </a:r>
            <a:r>
              <a:rPr lang="ru-RU" dirty="0"/>
              <a:t>см</a:t>
            </a:r>
            <a:r>
              <a:rPr lang="en-US" dirty="0"/>
              <a:t> ", 123.456);	</a:t>
            </a:r>
            <a:r>
              <a:rPr lang="ru-RU" dirty="0" smtClean="0"/>
              <a:t>	</a:t>
            </a:r>
            <a:r>
              <a:rPr lang="en-US" dirty="0" err="1" smtClean="0"/>
              <a:t>PrintString</a:t>
            </a:r>
            <a:r>
              <a:rPr lang="en-US" dirty="0" smtClean="0"/>
              <a:t>(</a:t>
            </a:r>
            <a:r>
              <a:rPr lang="en-US" dirty="0" err="1" smtClean="0"/>
              <a:t>str</a:t>
            </a:r>
            <a:r>
              <a:rPr lang="en-US" dirty="0"/>
              <a:t>);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str.Insert</a:t>
            </a:r>
            <a:r>
              <a:rPr lang="en-US" dirty="0"/>
              <a:t>(8, "</a:t>
            </a:r>
            <a:r>
              <a:rPr lang="ru-RU" dirty="0"/>
              <a:t>данного</a:t>
            </a:r>
            <a:r>
              <a:rPr lang="en-US" dirty="0"/>
              <a:t> </a:t>
            </a:r>
            <a:r>
              <a:rPr lang="en-US" dirty="0" smtClean="0"/>
              <a:t>");</a:t>
            </a:r>
            <a:r>
              <a:rPr lang="ru-RU" dirty="0" smtClean="0"/>
              <a:t>			</a:t>
            </a:r>
            <a:r>
              <a:rPr lang="en-US" dirty="0" err="1" smtClean="0"/>
              <a:t>PrintString</a:t>
            </a:r>
            <a:r>
              <a:rPr lang="en-US" dirty="0" smtClean="0"/>
              <a:t>(</a:t>
            </a:r>
            <a:r>
              <a:rPr lang="en-US" dirty="0" err="1" smtClean="0"/>
              <a:t>str</a:t>
            </a:r>
            <a:r>
              <a:rPr lang="en-US" dirty="0"/>
              <a:t>);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str.Remove</a:t>
            </a:r>
            <a:r>
              <a:rPr lang="en-US" dirty="0"/>
              <a:t>(7, 21</a:t>
            </a:r>
            <a:r>
              <a:rPr lang="en-US" dirty="0" smtClean="0"/>
              <a:t>);</a:t>
            </a:r>
            <a:r>
              <a:rPr lang="ru-RU" dirty="0" smtClean="0"/>
              <a:t>	</a:t>
            </a:r>
            <a:r>
              <a:rPr lang="en-US" dirty="0"/>
              <a:t>		</a:t>
            </a:r>
            <a:r>
              <a:rPr lang="ru-RU" dirty="0" smtClean="0"/>
              <a:t>	</a:t>
            </a:r>
            <a:r>
              <a:rPr lang="en-US" dirty="0" err="1" smtClean="0"/>
              <a:t>PrintString</a:t>
            </a:r>
            <a:r>
              <a:rPr lang="en-US" dirty="0" smtClean="0"/>
              <a:t>(</a:t>
            </a:r>
            <a:r>
              <a:rPr lang="en-US" dirty="0" err="1" smtClean="0"/>
              <a:t>str</a:t>
            </a:r>
            <a:r>
              <a:rPr lang="en-US" dirty="0"/>
              <a:t>);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str.Replace</a:t>
            </a:r>
            <a:r>
              <a:rPr lang="en-US" dirty="0"/>
              <a:t>("</a:t>
            </a:r>
            <a:r>
              <a:rPr lang="ru-RU" dirty="0"/>
              <a:t>а</a:t>
            </a:r>
            <a:r>
              <a:rPr lang="en-US" dirty="0"/>
              <a:t>", "</a:t>
            </a:r>
            <a:r>
              <a:rPr lang="ru-RU" dirty="0"/>
              <a:t>о</a:t>
            </a:r>
            <a:r>
              <a:rPr lang="en-US" dirty="0" smtClean="0"/>
              <a:t>");</a:t>
            </a:r>
            <a:r>
              <a:rPr lang="ru-RU" dirty="0" smtClean="0"/>
              <a:t>	</a:t>
            </a:r>
            <a:r>
              <a:rPr lang="en-US" dirty="0"/>
              <a:t>		</a:t>
            </a:r>
            <a:r>
              <a:rPr lang="ru-RU" dirty="0" smtClean="0"/>
              <a:t>	</a:t>
            </a:r>
            <a:r>
              <a:rPr lang="en-US" dirty="0" err="1" smtClean="0"/>
              <a:t>PrintString</a:t>
            </a:r>
            <a:r>
              <a:rPr lang="en-US" dirty="0" smtClean="0"/>
              <a:t>(</a:t>
            </a:r>
            <a:r>
              <a:rPr lang="en-US" dirty="0" err="1" smtClean="0"/>
              <a:t>str</a:t>
            </a:r>
            <a:r>
              <a:rPr lang="en-US" dirty="0"/>
              <a:t>);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StringBuilder</a:t>
            </a:r>
            <a:r>
              <a:rPr lang="en-US" dirty="0"/>
              <a:t> str1=new </a:t>
            </a:r>
            <a:r>
              <a:rPr lang="en-US" dirty="0" err="1"/>
              <a:t>StringBuilder</a:t>
            </a:r>
            <a:r>
              <a:rPr lang="en-US" dirty="0"/>
              <a:t>(</a:t>
            </a:r>
            <a:r>
              <a:rPr lang="en-US" dirty="0" err="1"/>
              <a:t>Console.ReadLine</a:t>
            </a:r>
            <a:r>
              <a:rPr lang="en-US" dirty="0"/>
              <a:t>());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StringBuilder</a:t>
            </a:r>
            <a:r>
              <a:rPr lang="en-US" dirty="0"/>
              <a:t> str2=new </a:t>
            </a:r>
            <a:r>
              <a:rPr lang="en-US" dirty="0" err="1"/>
              <a:t>StringBuilder</a:t>
            </a:r>
            <a:r>
              <a:rPr lang="en-US" dirty="0"/>
              <a:t>(</a:t>
            </a:r>
            <a:r>
              <a:rPr lang="en-US" dirty="0" err="1"/>
              <a:t>Console.ReadLine</a:t>
            </a:r>
            <a:r>
              <a:rPr lang="en-US" dirty="0"/>
              <a:t>());</a:t>
            </a:r>
            <a:endParaRPr lang="ru-RU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Console.WriteLine</a:t>
            </a:r>
            <a:r>
              <a:rPr lang="en-US" dirty="0"/>
              <a:t>(str1.Equals(str2));</a:t>
            </a:r>
            <a:endParaRPr lang="ru-RU" dirty="0"/>
          </a:p>
          <a:p>
            <a:pPr>
              <a:buNone/>
            </a:pPr>
            <a:r>
              <a:rPr lang="en-US" dirty="0"/>
              <a:t>		}</a:t>
            </a:r>
            <a:endParaRPr lang="ru-RU" dirty="0"/>
          </a:p>
          <a:p>
            <a:pPr>
              <a:buNone/>
            </a:pPr>
            <a:r>
              <a:rPr lang="en-US" dirty="0"/>
              <a:t>		catch 		</a:t>
            </a: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err="1" smtClean="0"/>
              <a:t>Console.WriteLine</a:t>
            </a:r>
            <a:r>
              <a:rPr lang="en-US" dirty="0"/>
              <a:t>("</a:t>
            </a:r>
            <a:r>
              <a:rPr lang="ru-RU" dirty="0" err="1"/>
              <a:t>Вознико</a:t>
            </a:r>
            <a:r>
              <a:rPr lang="ru-RU" dirty="0"/>
              <a:t> исключение</a:t>
            </a:r>
            <a:r>
              <a:rPr lang="en-US" dirty="0" smtClean="0"/>
              <a:t>");</a:t>
            </a:r>
            <a:r>
              <a:rPr lang="en-US" dirty="0"/>
              <a:t>	}</a:t>
            </a:r>
            <a:endParaRPr lang="ru-RU" dirty="0"/>
          </a:p>
          <a:p>
            <a:pPr>
              <a:buNone/>
            </a:pPr>
            <a:r>
              <a:rPr lang="en-US" dirty="0"/>
              <a:t>	}</a:t>
            </a:r>
            <a:endParaRPr lang="ru-RU" dirty="0"/>
          </a:p>
          <a:p>
            <a:pPr>
              <a:buNone/>
            </a:pPr>
            <a:r>
              <a:rPr lang="ru-RU" dirty="0"/>
              <a:t> </a:t>
            </a:r>
            <a:r>
              <a:rPr lang="en-US" dirty="0"/>
              <a:t>	static void </a:t>
            </a:r>
            <a:r>
              <a:rPr lang="en-US" dirty="0" err="1"/>
              <a:t>PrintString</a:t>
            </a:r>
            <a:r>
              <a:rPr lang="en-US" dirty="0"/>
              <a:t>(</a:t>
            </a:r>
            <a:r>
              <a:rPr lang="en-US" dirty="0" err="1"/>
              <a:t>StringBuilder</a:t>
            </a:r>
            <a:r>
              <a:rPr lang="en-US" dirty="0"/>
              <a:t> a</a:t>
            </a:r>
            <a:r>
              <a:rPr lang="en-US" dirty="0" smtClean="0"/>
              <a:t>)</a:t>
            </a:r>
            <a:r>
              <a:rPr lang="en-US" dirty="0"/>
              <a:t>	{</a:t>
            </a:r>
            <a:endParaRPr lang="ru-RU" dirty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Строка</a:t>
            </a:r>
            <a:r>
              <a:rPr lang="en-US" dirty="0"/>
              <a:t>: "+a);</a:t>
            </a:r>
            <a:endParaRPr lang="ru-RU" dirty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Текущая длина строки</a:t>
            </a:r>
            <a:r>
              <a:rPr lang="en-US" dirty="0"/>
              <a:t> " +</a:t>
            </a:r>
            <a:r>
              <a:rPr lang="en-US" dirty="0" err="1"/>
              <a:t>a.Length</a:t>
            </a:r>
            <a:r>
              <a:rPr lang="en-US" dirty="0"/>
              <a:t>);</a:t>
            </a:r>
            <a:endParaRPr lang="ru-RU" dirty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Объем буфера</a:t>
            </a:r>
            <a:r>
              <a:rPr lang="en-US" dirty="0"/>
              <a:t> "+</a:t>
            </a:r>
            <a:r>
              <a:rPr lang="en-US" dirty="0" err="1"/>
              <a:t>a.Capacity</a:t>
            </a:r>
            <a:r>
              <a:rPr lang="en-US" dirty="0"/>
              <a:t>);</a:t>
            </a:r>
            <a:endParaRPr lang="ru-RU" dirty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Максимальный объем буфера</a:t>
            </a:r>
            <a:r>
              <a:rPr lang="en-US" dirty="0"/>
              <a:t> "+</a:t>
            </a:r>
            <a:r>
              <a:rPr lang="en-US" dirty="0" err="1"/>
              <a:t>a.MaxCapacity</a:t>
            </a:r>
            <a:r>
              <a:rPr lang="en-US" dirty="0"/>
              <a:t>);</a:t>
            </a:r>
            <a:endParaRPr lang="ru-RU" dirty="0"/>
          </a:p>
          <a:p>
            <a:pPr>
              <a:buNone/>
            </a:pPr>
            <a:r>
              <a:rPr lang="en-US" dirty="0" smtClean="0"/>
              <a:t> </a:t>
            </a:r>
            <a:r>
              <a:rPr lang="ru-RU" dirty="0" err="1"/>
              <a:t>Console.WriteLine</a:t>
            </a:r>
            <a:r>
              <a:rPr lang="ru-RU" dirty="0"/>
              <a:t>();</a:t>
            </a:r>
          </a:p>
          <a:p>
            <a:pPr>
              <a:buNone/>
            </a:pPr>
            <a:r>
              <a:rPr lang="ru-RU" dirty="0"/>
              <a:t>	}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8842" r="31883"/>
          <a:stretch>
            <a:fillRect/>
          </a:stretch>
        </p:blipFill>
        <p:spPr bwMode="auto">
          <a:xfrm>
            <a:off x="1331640" y="1672547"/>
            <a:ext cx="7497739" cy="5068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8072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/>
              <a:t>using System;</a:t>
            </a:r>
          </a:p>
          <a:p>
            <a:pPr>
              <a:buNone/>
            </a:pPr>
            <a:r>
              <a:rPr lang="en-US" dirty="0"/>
              <a:t>using </a:t>
            </a:r>
            <a:r>
              <a:rPr lang="en-US" dirty="0" err="1"/>
              <a:t>System.Collections.Generic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using </a:t>
            </a:r>
            <a:r>
              <a:rPr lang="en-US" dirty="0" err="1"/>
              <a:t>System.Linq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using </a:t>
            </a:r>
            <a:r>
              <a:rPr lang="en-US" dirty="0" err="1"/>
              <a:t>System.Text</a:t>
            </a:r>
            <a:r>
              <a:rPr lang="en-US" dirty="0"/>
              <a:t>;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en-US" dirty="0"/>
              <a:t>namespace ConsoleApplication2</a:t>
            </a:r>
          </a:p>
          <a:p>
            <a:pPr>
              <a:buNone/>
            </a:pPr>
            <a:r>
              <a:rPr lang="ru-RU" dirty="0"/>
              <a:t>{</a:t>
            </a:r>
          </a:p>
          <a:p>
            <a:pPr>
              <a:buNone/>
            </a:pPr>
            <a:r>
              <a:rPr lang="en-US" dirty="0"/>
              <a:t>    class Program</a:t>
            </a:r>
          </a:p>
          <a:p>
            <a:pPr>
              <a:buNone/>
            </a:pPr>
            <a:r>
              <a:rPr lang="ru-RU" dirty="0"/>
              <a:t>    {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>
                <a:solidFill>
                  <a:srgbClr val="00B050"/>
                </a:solidFill>
              </a:rPr>
              <a:t>        //С изменяемой строкой можно работать не только как с объектом, но как с массивом символов: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en-US" dirty="0"/>
              <a:t>        static void Main()</a:t>
            </a:r>
          </a:p>
          <a:p>
            <a:pPr>
              <a:buNone/>
            </a:pPr>
            <a:r>
              <a:rPr lang="ru-RU" dirty="0"/>
              <a:t>        {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StringBuilder</a:t>
            </a:r>
            <a:r>
              <a:rPr lang="en-US" dirty="0"/>
              <a:t> a = new </a:t>
            </a:r>
            <a:r>
              <a:rPr lang="en-US" dirty="0" err="1"/>
              <a:t>StringBuilder</a:t>
            </a:r>
            <a:r>
              <a:rPr lang="en-US" dirty="0"/>
              <a:t>("2*3=3*2");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(a);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k = 0;</a:t>
            </a:r>
          </a:p>
          <a:p>
            <a:pPr>
              <a:buNone/>
            </a:pPr>
            <a:r>
              <a:rPr lang="nn-NO" dirty="0"/>
              <a:t>            for (int i = 0; i &lt; a.Length; ++i)</a:t>
            </a:r>
          </a:p>
          <a:p>
            <a:pPr>
              <a:buNone/>
            </a:pPr>
            <a:r>
              <a:rPr lang="en-US" dirty="0"/>
              <a:t>                if (</a:t>
            </a:r>
            <a:r>
              <a:rPr lang="en-US" dirty="0" err="1"/>
              <a:t>char.IsDigit</a:t>
            </a:r>
            <a:r>
              <a:rPr lang="en-US" dirty="0"/>
              <a:t>(a[</a:t>
            </a:r>
            <a:r>
              <a:rPr lang="en-US" dirty="0" err="1"/>
              <a:t>i</a:t>
            </a:r>
            <a:r>
              <a:rPr lang="en-US" dirty="0"/>
              <a:t>])) k += </a:t>
            </a:r>
            <a:r>
              <a:rPr lang="en-US" dirty="0" err="1"/>
              <a:t>int.Parse</a:t>
            </a:r>
            <a:r>
              <a:rPr lang="en-US" dirty="0"/>
              <a:t>(a[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ToString</a:t>
            </a:r>
            <a:r>
              <a:rPr lang="en-US" dirty="0"/>
              <a:t>());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(k);</a:t>
            </a:r>
          </a:p>
          <a:p>
            <a:pPr>
              <a:buNone/>
            </a:pPr>
            <a:r>
              <a:rPr lang="ru-RU" dirty="0"/>
              <a:t>        }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    }</a:t>
            </a:r>
          </a:p>
          <a:p>
            <a:pPr>
              <a:buNone/>
            </a:pPr>
            <a:r>
              <a:rPr lang="ru-RU" dirty="0"/>
              <a:t>}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5229200"/>
            <a:ext cx="423862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Регулярные выражения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None/>
              <a:tabLst>
                <a:tab pos="228600" algn="l"/>
              </a:tabLst>
            </a:pPr>
            <a:r>
              <a:rPr lang="ru-RU" dirty="0" smtClean="0">
                <a:solidFill>
                  <a:srgbClr val="7030A0"/>
                </a:solidFill>
              </a:rPr>
              <a:t>Регулярное выражение </a:t>
            </a:r>
            <a:r>
              <a:rPr lang="ru-RU" dirty="0" smtClean="0"/>
              <a:t>– это шаблон, по которому выполняется поиск соответствующего фрагмента текста.</a:t>
            </a:r>
          </a:p>
          <a:p>
            <a:pPr lvl="0">
              <a:buNone/>
              <a:tabLst>
                <a:tab pos="228600" algn="l"/>
              </a:tabLst>
            </a:pPr>
            <a:endParaRPr lang="ru-RU" dirty="0" smtClean="0">
              <a:latin typeface="Times New Roman"/>
              <a:ea typeface="Times New Roman"/>
            </a:endParaRPr>
          </a:p>
          <a:p>
            <a:pPr lvl="0">
              <a:buFont typeface="+mj-lt"/>
              <a:buAutoNum type="arabicPeriod"/>
              <a:tabLst>
                <a:tab pos="228600" algn="l"/>
              </a:tabLst>
            </a:pPr>
            <a:r>
              <a:rPr lang="ru-RU" dirty="0" smtClean="0">
                <a:latin typeface="Times New Roman"/>
                <a:ea typeface="Times New Roman"/>
              </a:rPr>
              <a:t>Эффективный поиск в тексте по заданному шаблону;</a:t>
            </a:r>
          </a:p>
          <a:p>
            <a:pPr lvl="0">
              <a:buFont typeface="+mj-lt"/>
              <a:buAutoNum type="arabicPeriod"/>
              <a:tabLst>
                <a:tab pos="228600" algn="l"/>
              </a:tabLst>
            </a:pPr>
            <a:r>
              <a:rPr lang="ru-RU" dirty="0" smtClean="0">
                <a:latin typeface="Times New Roman"/>
                <a:ea typeface="Times New Roman"/>
              </a:rPr>
              <a:t>Редактирование текста;</a:t>
            </a:r>
          </a:p>
          <a:p>
            <a:pPr lvl="0">
              <a:buFont typeface="+mj-lt"/>
              <a:buAutoNum type="arabicPeriod"/>
              <a:tabLst>
                <a:tab pos="228600" algn="l"/>
              </a:tabLst>
            </a:pPr>
            <a:r>
              <a:rPr lang="ru-RU" dirty="0" smtClean="0">
                <a:latin typeface="Times New Roman"/>
                <a:ea typeface="Times New Roman"/>
              </a:rPr>
              <a:t>Формирование итоговых отчетов по результатам работы с текстом.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Метасимволы в регулярных выражениях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/>
                <a:ea typeface="Times New Roman"/>
              </a:rPr>
              <a:t>Язык описания регулярных выражений состоит из символов двух видов: обычных 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символов и метасимволов</a:t>
            </a:r>
            <a:r>
              <a:rPr lang="ru-RU" dirty="0" smtClean="0">
                <a:latin typeface="Times New Roman"/>
                <a:ea typeface="Times New Roman"/>
              </a:rPr>
              <a:t>. </a:t>
            </a:r>
          </a:p>
          <a:p>
            <a:endParaRPr lang="ru-RU" dirty="0" smtClean="0">
              <a:latin typeface="Times New Roman"/>
              <a:ea typeface="Times New Roman"/>
            </a:endParaRPr>
          </a:p>
          <a:p>
            <a:r>
              <a:rPr lang="ru-RU" dirty="0" smtClean="0">
                <a:latin typeface="Times New Roman"/>
                <a:ea typeface="Times New Roman"/>
              </a:rPr>
              <a:t>Обычный символ представляет в выражении сам себя, а 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метасимвол</a:t>
            </a:r>
            <a:r>
              <a:rPr lang="ru-RU" dirty="0" smtClean="0">
                <a:latin typeface="Times New Roman"/>
                <a:ea typeface="Times New Roman"/>
              </a:rPr>
              <a:t> – некоторый класс символов.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51521" y="260648"/>
          <a:ext cx="8589639" cy="637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i="1" dirty="0">
                          <a:latin typeface="Times New Roman"/>
                          <a:ea typeface="Times New Roman"/>
                          <a:cs typeface="Times New Roman"/>
                        </a:rPr>
                        <a:t>Класс символов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i="1">
                          <a:latin typeface="Times New Roman"/>
                          <a:ea typeface="Times New Roman"/>
                          <a:cs typeface="Times New Roman"/>
                        </a:rPr>
                        <a:t>Описание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i="1" dirty="0">
                          <a:latin typeface="Times New Roman"/>
                          <a:ea typeface="Times New Roman"/>
                          <a:cs typeface="Times New Roman"/>
                        </a:rPr>
                        <a:t>Пример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Любой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символ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кроме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 \n.</a:t>
                      </a:r>
                      <a:endParaRPr lang="ru-RU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c.t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cat, cut, </a:t>
                      </a:r>
                      <a:r>
                        <a:rPr lang="en-US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c#t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, c{t  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и т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д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[]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Любой одиночный символ из последовательности, записанной внутри скобок. Допускается использование диапазонов символов.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aui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cat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cut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cit</a:t>
                      </a:r>
                      <a:r>
                        <a:rPr lang="ru-RU" sz="1500" dirty="0" smtClean="0">
                          <a:latin typeface="Times New Roman"/>
                          <a:ea typeface="Times New Roman"/>
                          <a:cs typeface="Times New Roman"/>
                        </a:rPr>
                        <a:t>. Выражение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a-c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cat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cbt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cct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[^]</a:t>
                      </a:r>
                      <a:endParaRPr lang="ru-RU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Любой одиночный символ, не входящий в последовательность, записанную внутри скобок. </a:t>
                      </a:r>
                      <a:r>
                        <a:rPr lang="ru-RU" sz="1500" dirty="0" smtClean="0">
                          <a:latin typeface="Times New Roman"/>
                          <a:ea typeface="Times New Roman"/>
                          <a:cs typeface="Times New Roman"/>
                        </a:rPr>
                        <a:t>Можно исп. 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диапазонов символов.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^aui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c2t и т.д.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^a-c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c%t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 и т.д.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\w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>
                          <a:latin typeface="Times New Roman"/>
                          <a:ea typeface="Times New Roman"/>
                          <a:cs typeface="Times New Roman"/>
                        </a:rPr>
                        <a:t>Любой алфавитно-цифровой символ.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c\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wt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</a:t>
                      </a:r>
                      <a:b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c2t и т.д., но не соответствует фрагментам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c%t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{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 и т.д.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\W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>
                          <a:latin typeface="Times New Roman"/>
                          <a:ea typeface="Times New Roman"/>
                          <a:cs typeface="Times New Roman"/>
                        </a:rPr>
                        <a:t>Любой не алфавитно-цифровой символ.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c\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Wt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c%t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{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и т.д., но не соответствует фрагментам 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, c2t и т.д.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\s</a:t>
                      </a:r>
                      <a:endParaRPr lang="ru-RU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Любой пробельный символ.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\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s\w\w\w\s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 соответствует любому слову из трех букв, окруженному пробельными символами.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\S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>
                          <a:latin typeface="Times New Roman"/>
                          <a:ea typeface="Times New Roman"/>
                          <a:cs typeface="Times New Roman"/>
                        </a:rPr>
                        <a:t>Любой не пробельный символ.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\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s\S\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\</a:t>
                      </a: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\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 соответствует любым трем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непробельным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 символам, окруженным пробельными.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\d</a:t>
                      </a:r>
                      <a:endParaRPr lang="ru-RU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>
                          <a:latin typeface="Times New Roman"/>
                          <a:ea typeface="Times New Roman"/>
                          <a:cs typeface="Times New Roman"/>
                        </a:rPr>
                        <a:t>Любая десятичная цифра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c\dt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 соответствует фрагментам: c1t, c2t, c3t и т.д.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\D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>
                          <a:latin typeface="Times New Roman"/>
                          <a:ea typeface="Times New Roman"/>
                          <a:cs typeface="Times New Roman"/>
                        </a:rPr>
                        <a:t>Любой символ, не являющийся десятичной цифрой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500" dirty="0" err="1">
                          <a:latin typeface="Times New Roman"/>
                          <a:ea typeface="Times New Roman"/>
                          <a:cs typeface="Times New Roman"/>
                        </a:rPr>
                        <a:t>c\Dt</a:t>
                      </a:r>
                      <a:r>
                        <a:rPr lang="ru-RU" sz="1500" dirty="0">
                          <a:latin typeface="Times New Roman"/>
                          <a:ea typeface="Times New Roman"/>
                          <a:cs typeface="Times New Roman"/>
                        </a:rPr>
                        <a:t> не соответствует фрагментам: c1t, c2t, c3t и т.д.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dirty="0" smtClean="0">
                <a:solidFill>
                  <a:srgbClr val="7030A0"/>
                </a:solidFill>
                <a:latin typeface="Times New Roman"/>
                <a:ea typeface="Times New Roman"/>
              </a:rPr>
              <a:t>Кроме метасимволов, обозначающие классы символов, могут применяться уточняющие метасимволы:</a:t>
            </a:r>
            <a:endParaRPr lang="ru-RU" sz="2800" dirty="0">
              <a:solidFill>
                <a:srgbClr val="7030A0"/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709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7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8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1" dirty="0">
                          <a:latin typeface="Times New Roman"/>
                          <a:ea typeface="Times New Roman"/>
                          <a:cs typeface="Times New Roman"/>
                        </a:rPr>
                        <a:t>Уточняющие символы</a:t>
                      </a:r>
                      <a:endParaRPr lang="ru-RU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i="1" dirty="0">
                          <a:latin typeface="Times New Roman"/>
                          <a:ea typeface="Times New Roman"/>
                          <a:cs typeface="Times New Roman"/>
                        </a:rPr>
                        <a:t>Описание</a:t>
                      </a:r>
                      <a:endParaRPr lang="ru-RU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^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Фрагмент, совпадающий с регулярными выражениями, следует искать только в начале строки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$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Фрагмент, совпадающий с регулярными выражениями, следует искать только в конце строки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\А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Фрагмент, совпадающий с регулярными выражениями, следует искать только в начале многострочной строки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\Z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Фрагмент, совпадающий с регулярными выражениями, следует искать только в конце многострочной строки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182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\b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Фрагмент, совпадающий с регулярными выражениями, начинается или заканчивается на границе слова, т.е. между символами, соответствующими метасимволам \</a:t>
                      </a:r>
                      <a:r>
                        <a:rPr lang="ru-RU" sz="1800" dirty="0" err="1">
                          <a:latin typeface="Times New Roman"/>
                          <a:ea typeface="Times New Roman"/>
                          <a:cs typeface="Times New Roman"/>
                        </a:rPr>
                        <a:t>w</a:t>
                      </a: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 и \W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8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\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Фрагмент, совпадающий с регулярными выражениями, не должен встречаться на границе слов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7030A0"/>
                </a:solidFill>
                <a:latin typeface="Times New Roman"/>
                <a:ea typeface="Times New Roman"/>
              </a:rPr>
              <a:t>Повторители – метасимволы, которые располагаются непосредственно после обычного символа или группы символов и задают количество его повторений в выражении</a:t>
            </a:r>
            <a:endParaRPr lang="ru-RU" sz="2400" dirty="0">
              <a:solidFill>
                <a:srgbClr val="7030A0"/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925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6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="1" i="1">
                          <a:latin typeface="Times New Roman"/>
                          <a:ea typeface="Times New Roman"/>
                          <a:cs typeface="Times New Roman"/>
                        </a:rPr>
                        <a:t>Повторители</a:t>
                      </a:r>
                      <a:endParaRPr lang="ru-RU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="1" i="1">
                          <a:latin typeface="Times New Roman"/>
                          <a:ea typeface="Times New Roman"/>
                          <a:cs typeface="Times New Roman"/>
                        </a:rPr>
                        <a:t>Описание</a:t>
                      </a:r>
                      <a:endParaRPr lang="ru-RU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="1" i="1" dirty="0">
                          <a:latin typeface="Times New Roman"/>
                          <a:ea typeface="Times New Roman"/>
                          <a:cs typeface="Times New Roman"/>
                        </a:rPr>
                        <a:t>Пример</a:t>
                      </a:r>
                      <a:endParaRPr lang="ru-RU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*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Ноль или более повторений предыдущего элемента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*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ct, cat,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caat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caaat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и т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д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4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Одно или более повторений предыдущего элемента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ca+t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cat,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caat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caaat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и т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д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4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Не более одного повторения предыдущего элемента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ca?t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68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{n}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Ровно 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 повторений предыдущего элемента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{3}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фрагменту: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cаааt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(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){2} соответствует фрагменту: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cаt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cat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68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{n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}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По крайней мере 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 повторений предыдущего элемента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{3,}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cаааt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caaaat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caaaaaaat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 и т.д.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(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){2,} соответствует фрагментам: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cаt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cat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catcatcat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 и т.д.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4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{n, m}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От 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 до m повторений предыдущего элемента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Выражение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{2, 4}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 соответствует фрагментам: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cааt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caaat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caaaat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2656"/>
            <a:ext cx="8435280" cy="6264696"/>
          </a:xfrm>
        </p:spPr>
        <p:txBody>
          <a:bodyPr>
            <a:normAutofit fontScale="70000" lnSpcReduction="20000"/>
          </a:bodyPr>
          <a:lstStyle/>
          <a:p>
            <a:pPr indent="457200" algn="just">
              <a:spcAft>
                <a:spcPts val="0"/>
              </a:spcAft>
            </a:pPr>
            <a:r>
              <a:rPr lang="ru-RU" dirty="0" smtClean="0">
                <a:latin typeface="Times New Roman"/>
                <a:ea typeface="Times New Roman"/>
              </a:rPr>
              <a:t>Регулярное выражение записывается в виде строкового литерала, перед строкой необходимо ставить символ </a:t>
            </a:r>
            <a:r>
              <a:rPr lang="ru-RU" b="1" i="1" dirty="0" smtClean="0">
                <a:solidFill>
                  <a:srgbClr val="7030A0"/>
                </a:solidFill>
                <a:latin typeface="Times New Roman"/>
                <a:ea typeface="Times New Roman"/>
              </a:rPr>
              <a:t>@.</a:t>
            </a:r>
            <a:r>
              <a:rPr lang="ru-RU" dirty="0" smtClean="0">
                <a:latin typeface="Times New Roman"/>
                <a:ea typeface="Times New Roman"/>
              </a:rPr>
              <a:t> </a:t>
            </a:r>
          </a:p>
          <a:p>
            <a:pPr indent="457200" algn="just">
              <a:spcAft>
                <a:spcPts val="0"/>
              </a:spcAft>
            </a:pPr>
            <a:endParaRPr lang="ru-RU" dirty="0" smtClean="0">
              <a:latin typeface="Times New Roman"/>
              <a:ea typeface="Times New Roman"/>
            </a:endParaRPr>
          </a:p>
          <a:p>
            <a:pPr indent="457200" algn="just">
              <a:spcAft>
                <a:spcPts val="0"/>
              </a:spcAft>
            </a:pPr>
            <a:r>
              <a:rPr lang="ru-RU" dirty="0" smtClean="0">
                <a:latin typeface="Times New Roman"/>
                <a:ea typeface="Times New Roman"/>
              </a:rPr>
              <a:t>Символ 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 New Roman"/>
              </a:rPr>
              <a:t>@</a:t>
            </a:r>
            <a:r>
              <a:rPr lang="ru-RU" dirty="0" smtClean="0">
                <a:latin typeface="Times New Roman"/>
                <a:ea typeface="Times New Roman"/>
              </a:rPr>
              <a:t> можно не ставить, если в качестве шаблона используется шаблон без метасимволов. </a:t>
            </a:r>
          </a:p>
          <a:p>
            <a:pPr indent="457200" algn="just">
              <a:spcAft>
                <a:spcPts val="0"/>
              </a:spcAft>
              <a:buNone/>
            </a:pPr>
            <a:endParaRPr lang="ru-RU" dirty="0" smtClean="0">
              <a:latin typeface="Times New Roman"/>
              <a:ea typeface="Times New Roman"/>
            </a:endParaRPr>
          </a:p>
          <a:p>
            <a:pPr indent="450215" algn="just">
              <a:spcAft>
                <a:spcPts val="0"/>
              </a:spcAft>
            </a:pPr>
            <a:r>
              <a:rPr lang="ru-RU" dirty="0" smtClean="0">
                <a:latin typeface="Times New Roman"/>
                <a:ea typeface="Times New Roman"/>
              </a:rPr>
              <a:t>Если нужно найти какой-то символ, который является метасимволом (например, точку), можно это сделать защитив ее обратным </a:t>
            </a:r>
            <a:r>
              <a:rPr lang="ru-RU" dirty="0" err="1" smtClean="0">
                <a:latin typeface="Times New Roman"/>
                <a:ea typeface="Times New Roman"/>
              </a:rPr>
              <a:t>слэшем</a:t>
            </a:r>
            <a:r>
              <a:rPr lang="ru-RU" dirty="0" smtClean="0">
                <a:latin typeface="Times New Roman"/>
                <a:ea typeface="Times New Roman"/>
              </a:rPr>
              <a:t>. Т.е. просто точка означает любой одиночный символ, а \. означает просто точку.</a:t>
            </a:r>
          </a:p>
          <a:p>
            <a:pPr indent="457200" algn="just">
              <a:spcAft>
                <a:spcPts val="0"/>
              </a:spcAft>
              <a:buNone/>
            </a:pPr>
            <a:endParaRPr lang="ru-RU" dirty="0" smtClean="0">
              <a:latin typeface="Times New Roman"/>
              <a:ea typeface="Times New Roman"/>
            </a:endParaRPr>
          </a:p>
          <a:p>
            <a:pPr indent="457200" algn="just">
              <a:spcAft>
                <a:spcPts val="0"/>
              </a:spcAft>
              <a:buNone/>
            </a:pPr>
            <a:r>
              <a:rPr lang="ru-RU" dirty="0" smtClean="0">
                <a:solidFill>
                  <a:srgbClr val="FF0000"/>
                </a:solidFill>
                <a:latin typeface="Times New Roman"/>
                <a:ea typeface="Times New Roman"/>
              </a:rPr>
              <a:t>Примеры регулярных выражений:</a:t>
            </a:r>
          </a:p>
          <a:p>
            <a:pPr indent="457200" algn="just">
              <a:spcAft>
                <a:spcPts val="0"/>
              </a:spcAft>
              <a:buNone/>
            </a:pPr>
            <a:endParaRPr lang="ru-RU" dirty="0" smtClean="0">
              <a:latin typeface="Times New Roman"/>
              <a:ea typeface="Times New Roman"/>
            </a:endParaRPr>
          </a:p>
          <a:p>
            <a:pPr lvl="0" algn="just">
              <a:buNone/>
              <a:tabLst>
                <a:tab pos="180340" algn="l"/>
              </a:tabLst>
            </a:pP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слово </a:t>
            </a:r>
            <a:r>
              <a:rPr lang="en-US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rus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 	– 	@"</a:t>
            </a:r>
            <a:r>
              <a:rPr lang="en-US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rus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" 	или	"</a:t>
            </a:r>
            <a:r>
              <a:rPr lang="en-US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rus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«</a:t>
            </a:r>
          </a:p>
          <a:p>
            <a:pPr lvl="0" algn="just">
              <a:buFont typeface="+mj-lt"/>
              <a:buAutoNum type="arabicPeriod"/>
              <a:tabLst>
                <a:tab pos="180340" algn="l"/>
              </a:tabLst>
            </a:pPr>
            <a:endParaRPr lang="ru-RU" dirty="0" smtClean="0">
              <a:solidFill>
                <a:srgbClr val="7030A0"/>
              </a:solidFill>
              <a:latin typeface="Times New Roman"/>
              <a:ea typeface="Times New Roman"/>
            </a:endParaRPr>
          </a:p>
          <a:p>
            <a:pPr lvl="0" algn="just">
              <a:buNone/>
              <a:tabLst>
                <a:tab pos="180340" algn="l"/>
              </a:tabLst>
            </a:pP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№ телефона в формате </a:t>
            </a:r>
            <a:r>
              <a:rPr lang="ru-RU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xxx-xx-xx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 	–</a:t>
            </a:r>
          </a:p>
          <a:p>
            <a:pPr lvl="0" algn="just">
              <a:buNone/>
              <a:tabLst>
                <a:tab pos="180340" algn="l"/>
              </a:tabLst>
            </a:pP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@"\</a:t>
            </a:r>
            <a:r>
              <a:rPr lang="ru-RU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d\d\d-\d\d-\d\d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" или  @"\</a:t>
            </a:r>
            <a:r>
              <a:rPr lang="ru-RU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d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{3}(-\</a:t>
            </a:r>
            <a:r>
              <a:rPr lang="ru-RU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d\d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){2} "</a:t>
            </a:r>
          </a:p>
          <a:p>
            <a:pPr lvl="0" algn="just">
              <a:buNone/>
              <a:tabLst>
                <a:tab pos="180340" algn="l"/>
              </a:tabLst>
            </a:pPr>
            <a:endParaRPr lang="ru-RU" dirty="0" smtClean="0">
              <a:solidFill>
                <a:srgbClr val="7030A0"/>
              </a:solidFill>
              <a:latin typeface="Times New Roman"/>
              <a:ea typeface="Times New Roman"/>
            </a:endParaRPr>
          </a:p>
          <a:p>
            <a:pPr lvl="0" algn="just">
              <a:buNone/>
              <a:tabLst>
                <a:tab pos="180340" algn="l"/>
              </a:tabLst>
            </a:pP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номер автомобиля	-	@"[A-Z]\</a:t>
            </a:r>
            <a:r>
              <a:rPr lang="ru-RU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d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{3}[A-Z]{2}\</a:t>
            </a:r>
            <a:r>
              <a:rPr lang="ru-RU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d</a:t>
            </a:r>
            <a:r>
              <a:rPr lang="ru-RU" dirty="0" smtClean="0">
                <a:solidFill>
                  <a:srgbClr val="7030A0"/>
                </a:solidFill>
                <a:latin typeface="Times New Roman"/>
                <a:ea typeface="Times New Roman"/>
              </a:rPr>
              <a:t>{2,3}RUS"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Поиск в тексте по шаблону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544616"/>
          </a:xfrm>
        </p:spPr>
        <p:txBody>
          <a:bodyPr>
            <a:normAutofit fontScale="62500" lnSpcReduction="20000"/>
          </a:bodyPr>
          <a:lstStyle/>
          <a:p>
            <a:pPr indent="457200" algn="just">
              <a:spcAft>
                <a:spcPts val="0"/>
              </a:spcAft>
            </a:pPr>
            <a:r>
              <a:rPr lang="ru-RU" dirty="0" smtClean="0">
                <a:latin typeface="Times New Roman"/>
                <a:ea typeface="Times-Roman"/>
              </a:rPr>
              <a:t>Пространство имен библиотеки базовых классов </a:t>
            </a:r>
            <a:r>
              <a:rPr lang="ru-RU" b="1" dirty="0" err="1" smtClean="0">
                <a:solidFill>
                  <a:srgbClr val="7030A0"/>
                </a:solidFill>
                <a:latin typeface="Times New Roman"/>
                <a:ea typeface="Times-Roman"/>
              </a:rPr>
              <a:t>System.Text.RegularExpressions</a:t>
            </a:r>
            <a:r>
              <a:rPr lang="ru-RU" dirty="0" smtClean="0">
                <a:latin typeface="Times New Roman"/>
                <a:ea typeface="Times-Roman"/>
              </a:rPr>
              <a:t> содержит все объекты платформы .NET </a:t>
            </a:r>
            <a:r>
              <a:rPr lang="ru-RU" dirty="0" err="1" smtClean="0">
                <a:latin typeface="Times New Roman"/>
                <a:ea typeface="Times-Roman"/>
              </a:rPr>
              <a:t>Framework</a:t>
            </a:r>
            <a:r>
              <a:rPr lang="ru-RU" dirty="0" smtClean="0">
                <a:latin typeface="Times New Roman"/>
                <a:ea typeface="Times-Roman"/>
              </a:rPr>
              <a:t>, имеющие отношение к регулярным выражениям. </a:t>
            </a:r>
            <a:endParaRPr lang="en-US" dirty="0" smtClean="0">
              <a:latin typeface="Times New Roman"/>
              <a:ea typeface="Times-Roman"/>
            </a:endParaRPr>
          </a:p>
          <a:p>
            <a:pPr indent="457200" algn="just">
              <a:spcAft>
                <a:spcPts val="0"/>
              </a:spcAft>
            </a:pPr>
            <a:endParaRPr lang="en-US" dirty="0" smtClean="0">
              <a:latin typeface="Times New Roman"/>
              <a:ea typeface="Times-Roman"/>
            </a:endParaRPr>
          </a:p>
          <a:p>
            <a:pPr indent="457200" algn="just">
              <a:spcAft>
                <a:spcPts val="0"/>
              </a:spcAft>
            </a:pPr>
            <a:r>
              <a:rPr lang="ru-RU" dirty="0" smtClean="0">
                <a:latin typeface="Times New Roman"/>
                <a:ea typeface="Times-Roman"/>
              </a:rPr>
              <a:t>Класс, поддерживающий регулярные выражения, - класс </a:t>
            </a:r>
            <a:r>
              <a:rPr lang="ru-RU" b="1" dirty="0" err="1" smtClean="0">
                <a:solidFill>
                  <a:srgbClr val="7030A0"/>
                </a:solidFill>
                <a:latin typeface="Times New Roman"/>
                <a:ea typeface="Times-Roman"/>
              </a:rPr>
              <a:t>Regex</a:t>
            </a:r>
            <a:r>
              <a:rPr lang="ru-RU" dirty="0" smtClean="0">
                <a:latin typeface="Times New Roman"/>
                <a:ea typeface="Times-Roman"/>
              </a:rPr>
              <a:t>, он представляет неизменяемые откомпилированные регулярные выражения. </a:t>
            </a:r>
          </a:p>
          <a:p>
            <a:pPr indent="457200" algn="just">
              <a:spcAft>
                <a:spcPts val="0"/>
              </a:spcAft>
            </a:pPr>
            <a:endParaRPr lang="ru-RU" dirty="0" smtClean="0">
              <a:latin typeface="Times New Roman"/>
              <a:ea typeface="Times-Roman"/>
            </a:endParaRPr>
          </a:p>
          <a:p>
            <a:pPr indent="457200" algn="just">
              <a:spcAft>
                <a:spcPts val="0"/>
              </a:spcAft>
            </a:pPr>
            <a:r>
              <a:rPr lang="ru-RU" dirty="0" smtClean="0">
                <a:latin typeface="Times New Roman"/>
                <a:ea typeface="Times-Roman"/>
              </a:rPr>
              <a:t>Для описания регулярного выражения в классе определено несколько перегруженных конструкторов:</a:t>
            </a:r>
          </a:p>
          <a:p>
            <a:pPr indent="457200" algn="just">
              <a:spcAft>
                <a:spcPts val="0"/>
              </a:spcAft>
            </a:pPr>
            <a:endParaRPr lang="ru-RU" dirty="0" smtClean="0">
              <a:latin typeface="Times New Roman"/>
              <a:ea typeface="Times New Roman"/>
            </a:endParaRPr>
          </a:p>
          <a:p>
            <a:pPr lvl="0" algn="just">
              <a:buFont typeface="+mj-lt"/>
              <a:buAutoNum type="arabicParenR"/>
              <a:tabLst>
                <a:tab pos="228600" algn="l"/>
              </a:tabLst>
            </a:pPr>
            <a:r>
              <a:rPr lang="ru-RU" b="1" dirty="0" err="1" smtClean="0">
                <a:solidFill>
                  <a:srgbClr val="7030A0"/>
                </a:solidFill>
                <a:latin typeface="Times New Roman"/>
                <a:ea typeface="Times-Roman"/>
              </a:rPr>
              <a:t>Regex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-Roman"/>
              </a:rPr>
              <a:t>() </a:t>
            </a:r>
            <a:r>
              <a:rPr lang="ru-RU" dirty="0" smtClean="0">
                <a:latin typeface="Times New Roman"/>
                <a:ea typeface="Times-Roman"/>
              </a:rPr>
              <a:t>– создает пустое выражение;</a:t>
            </a:r>
          </a:p>
          <a:p>
            <a:pPr lvl="0" algn="just">
              <a:buFont typeface="+mj-lt"/>
              <a:buAutoNum type="arabicParenR"/>
              <a:tabLst>
                <a:tab pos="228600" algn="l"/>
              </a:tabLst>
            </a:pPr>
            <a:endParaRPr lang="ru-RU" dirty="0" smtClean="0">
              <a:latin typeface="Times New Roman"/>
              <a:ea typeface="Times New Roman"/>
            </a:endParaRPr>
          </a:p>
          <a:p>
            <a:pPr lvl="0" algn="just">
              <a:buFont typeface="+mj-lt"/>
              <a:buAutoNum type="arabicParenR"/>
              <a:tabLst>
                <a:tab pos="228600" algn="l"/>
              </a:tabLst>
            </a:pPr>
            <a:r>
              <a:rPr lang="en-US" b="1" dirty="0" err="1" smtClean="0">
                <a:solidFill>
                  <a:srgbClr val="7030A0"/>
                </a:solidFill>
                <a:latin typeface="Times New Roman"/>
                <a:ea typeface="Times-Roman"/>
              </a:rPr>
              <a:t>Regex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-Roman"/>
              </a:rPr>
              <a:t>(</a:t>
            </a:r>
            <a:r>
              <a:rPr lang="en-US" b="1" dirty="0" smtClean="0">
                <a:solidFill>
                  <a:srgbClr val="7030A0"/>
                </a:solidFill>
                <a:latin typeface="Times New Roman"/>
                <a:ea typeface="Times-Roman"/>
              </a:rPr>
              <a:t>String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-Roman"/>
              </a:rPr>
              <a:t>) </a:t>
            </a:r>
            <a:r>
              <a:rPr lang="ru-RU" dirty="0" smtClean="0">
                <a:latin typeface="Times New Roman"/>
                <a:ea typeface="Times-Roman"/>
              </a:rPr>
              <a:t>– создает заданное выражение;</a:t>
            </a:r>
          </a:p>
          <a:p>
            <a:pPr lvl="0" algn="just">
              <a:buFont typeface="+mj-lt"/>
              <a:buAutoNum type="arabicParenR"/>
              <a:tabLst>
                <a:tab pos="228600" algn="l"/>
              </a:tabLst>
            </a:pPr>
            <a:endParaRPr lang="ru-RU" dirty="0" smtClean="0">
              <a:latin typeface="Times New Roman"/>
              <a:ea typeface="Times New Roman"/>
            </a:endParaRPr>
          </a:p>
          <a:p>
            <a:pPr lvl="0" algn="just">
              <a:buFont typeface="+mj-lt"/>
              <a:buAutoNum type="arabicParenR"/>
              <a:tabLst>
                <a:tab pos="228600" algn="l"/>
              </a:tabLst>
            </a:pPr>
            <a:r>
              <a:rPr lang="en-US" b="1" dirty="0" err="1" smtClean="0">
                <a:solidFill>
                  <a:srgbClr val="7030A0"/>
                </a:solidFill>
                <a:latin typeface="Times New Roman"/>
                <a:ea typeface="Times-Roman"/>
              </a:rPr>
              <a:t>Regex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-Roman"/>
              </a:rPr>
              <a:t>(</a:t>
            </a:r>
            <a:r>
              <a:rPr lang="en-US" b="1" dirty="0" smtClean="0">
                <a:solidFill>
                  <a:srgbClr val="7030A0"/>
                </a:solidFill>
                <a:latin typeface="Times New Roman"/>
                <a:ea typeface="Times-Roman"/>
              </a:rPr>
              <a:t>String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-Roman"/>
              </a:rPr>
              <a:t>, </a:t>
            </a:r>
            <a:r>
              <a:rPr lang="en-US" b="1" dirty="0" err="1" smtClean="0">
                <a:solidFill>
                  <a:srgbClr val="7030A0"/>
                </a:solidFill>
                <a:latin typeface="Times New Roman"/>
                <a:ea typeface="Times-Roman"/>
              </a:rPr>
              <a:t>RegexOptions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-Roman"/>
              </a:rPr>
              <a:t>) </a:t>
            </a:r>
            <a:r>
              <a:rPr lang="ru-RU" dirty="0" smtClean="0">
                <a:latin typeface="Times New Roman"/>
                <a:ea typeface="Times-Roman"/>
              </a:rPr>
              <a:t>– создает заданное выражение и задает параметры для его обработки  с помощью элементов перечисления </a:t>
            </a:r>
            <a:r>
              <a:rPr lang="ru-RU" b="1" dirty="0" err="1" smtClean="0">
                <a:solidFill>
                  <a:srgbClr val="7030A0"/>
                </a:solidFill>
                <a:latin typeface="Times New Roman"/>
                <a:ea typeface="Times-Roman"/>
              </a:rPr>
              <a:t>RegexOptions</a:t>
            </a:r>
            <a:r>
              <a:rPr lang="ru-RU" dirty="0" smtClean="0">
                <a:latin typeface="Times New Roman"/>
                <a:ea typeface="Times-Roman"/>
              </a:rPr>
              <a:t> (например, различать или нет прописные и строчные буквы).</a:t>
            </a:r>
            <a:endParaRPr lang="ru-RU" dirty="0" smtClean="0">
              <a:latin typeface="Times New Roman"/>
              <a:ea typeface="Times New Roman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7200" algn="just">
              <a:spcAft>
                <a:spcPts val="0"/>
              </a:spcAft>
            </a:pPr>
            <a:r>
              <a:rPr lang="ru-RU" dirty="0" smtClean="0">
                <a:latin typeface="Times New Roman"/>
                <a:ea typeface="Times New Roman"/>
              </a:rPr>
              <a:t>Поиск фрагментов строки, соответствующих заданному выражению, выполняется с помощью методов класса </a:t>
            </a:r>
            <a:r>
              <a:rPr lang="en-US" dirty="0" err="1" smtClean="0">
                <a:latin typeface="Times New Roman"/>
                <a:ea typeface="Times New Roman"/>
              </a:rPr>
              <a:t>Regex</a:t>
            </a:r>
            <a:r>
              <a:rPr lang="ru-RU" dirty="0" smtClean="0">
                <a:latin typeface="Times New Roman"/>
                <a:ea typeface="Times New Roman"/>
              </a:rPr>
              <a:t>:</a:t>
            </a:r>
          </a:p>
          <a:p>
            <a:pPr indent="457200" algn="just">
              <a:spcAft>
                <a:spcPts val="0"/>
              </a:spcAft>
            </a:pPr>
            <a:endParaRPr lang="ru-RU" dirty="0" smtClean="0">
              <a:latin typeface="Times New Roman"/>
              <a:ea typeface="Times New Roman"/>
            </a:endParaRPr>
          </a:p>
          <a:p>
            <a:pPr indent="457200" algn="just">
              <a:spcAft>
                <a:spcPts val="0"/>
              </a:spcAft>
            </a:pPr>
            <a:r>
              <a:rPr lang="ru-RU" b="1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IsMach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 New Roman"/>
              </a:rPr>
              <a:t>, </a:t>
            </a:r>
          </a:p>
          <a:p>
            <a:pPr indent="457200" algn="just">
              <a:spcAft>
                <a:spcPts val="0"/>
              </a:spcAft>
            </a:pPr>
            <a:r>
              <a:rPr lang="ru-RU" b="1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Mach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 New Roman"/>
              </a:rPr>
              <a:t>, </a:t>
            </a:r>
          </a:p>
          <a:p>
            <a:pPr indent="457200" algn="just">
              <a:spcAft>
                <a:spcPts val="0"/>
              </a:spcAft>
            </a:pPr>
            <a:r>
              <a:rPr lang="ru-RU" b="1" dirty="0" err="1" smtClean="0">
                <a:solidFill>
                  <a:srgbClr val="7030A0"/>
                </a:solidFill>
                <a:latin typeface="Times New Roman"/>
                <a:ea typeface="Times New Roman"/>
              </a:rPr>
              <a:t>Matches</a:t>
            </a:r>
            <a:r>
              <a:rPr lang="ru-RU" b="1" dirty="0" smtClean="0">
                <a:solidFill>
                  <a:srgbClr val="7030A0"/>
                </a:solidFill>
                <a:latin typeface="Times New Roman"/>
                <a:ea typeface="Times New Roman"/>
              </a:rPr>
              <a:t>.</a:t>
            </a:r>
          </a:p>
          <a:p>
            <a:pPr indent="457200" algn="just">
              <a:spcAft>
                <a:spcPts val="0"/>
              </a:spcAft>
            </a:pPr>
            <a:endParaRPr lang="ru-RU" dirty="0" smtClean="0">
              <a:latin typeface="Times New Roman"/>
              <a:ea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260648"/>
            <a:ext cx="8568952" cy="626469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rgbClr val="00B050"/>
                </a:solidFill>
              </a:rPr>
              <a:t>/*</a:t>
            </a:r>
            <a:r>
              <a:rPr lang="ru-RU" dirty="0" smtClean="0">
                <a:solidFill>
                  <a:srgbClr val="00B050"/>
                </a:solidFill>
                <a:latin typeface="Times New Roman"/>
                <a:ea typeface="Times New Roman"/>
              </a:rPr>
              <a:t>Метод </a:t>
            </a:r>
            <a:r>
              <a:rPr lang="en-US" b="1" i="1" dirty="0" err="1" smtClean="0">
                <a:solidFill>
                  <a:srgbClr val="00B050"/>
                </a:solidFill>
                <a:latin typeface="Times New Roman"/>
                <a:ea typeface="Times New Roman"/>
              </a:rPr>
              <a:t>IsMach</a:t>
            </a:r>
            <a:r>
              <a:rPr lang="ru-RU" dirty="0" smtClean="0">
                <a:solidFill>
                  <a:srgbClr val="00B050"/>
                </a:solidFill>
                <a:latin typeface="Times New Roman"/>
                <a:ea typeface="Times New Roman"/>
              </a:rPr>
              <a:t> возвращает </a:t>
            </a:r>
            <a:r>
              <a:rPr lang="en-US" b="1" dirty="0" smtClean="0">
                <a:solidFill>
                  <a:srgbClr val="00B050"/>
                </a:solidFill>
                <a:latin typeface="Times New Roman"/>
                <a:ea typeface="Times New Roman"/>
              </a:rPr>
              <a:t>true</a:t>
            </a:r>
            <a:r>
              <a:rPr lang="ru-RU" dirty="0" smtClean="0">
                <a:solidFill>
                  <a:srgbClr val="00B050"/>
                </a:solidFill>
                <a:latin typeface="Times New Roman"/>
                <a:ea typeface="Times New Roman"/>
              </a:rPr>
              <a:t>, если фрагмент, соответствующий выражению, в заданной строке найден, и </a:t>
            </a:r>
            <a:r>
              <a:rPr lang="en-US" b="1" dirty="0" smtClean="0">
                <a:solidFill>
                  <a:srgbClr val="00B050"/>
                </a:solidFill>
                <a:latin typeface="Times New Roman"/>
                <a:ea typeface="Times New Roman"/>
              </a:rPr>
              <a:t>false</a:t>
            </a:r>
            <a:r>
              <a:rPr lang="ru-RU" dirty="0" smtClean="0">
                <a:solidFill>
                  <a:srgbClr val="00B050"/>
                </a:solidFill>
                <a:latin typeface="Times New Roman"/>
                <a:ea typeface="Times New Roman"/>
              </a:rPr>
              <a:t> в противном случае*/</a:t>
            </a:r>
            <a:endParaRPr lang="ru-RU" dirty="0" smtClean="0">
              <a:solidFill>
                <a:srgbClr val="00B050"/>
              </a:solidFill>
            </a:endParaRP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using System;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System.Collections.Generic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System.Linq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System.Text.RegularExpressions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namespace ConsoleApplication3</a:t>
            </a:r>
          </a:p>
          <a:p>
            <a:pPr>
              <a:buNone/>
            </a:pPr>
            <a:r>
              <a:rPr lang="ru-RU" dirty="0" smtClean="0"/>
              <a:t>{</a:t>
            </a:r>
          </a:p>
          <a:p>
            <a:pPr>
              <a:buNone/>
            </a:pPr>
            <a:r>
              <a:rPr lang="en-US" dirty="0" smtClean="0"/>
              <a:t>    class Program</a:t>
            </a:r>
          </a:p>
          <a:p>
            <a:pPr>
              <a:buNone/>
            </a:pPr>
            <a:r>
              <a:rPr lang="ru-RU" dirty="0" smtClean="0"/>
              <a:t>    {</a:t>
            </a:r>
          </a:p>
          <a:p>
            <a:pPr>
              <a:buNone/>
            </a:pPr>
            <a:r>
              <a:rPr lang="en-US" dirty="0" smtClean="0"/>
              <a:t>        static void Main()</a:t>
            </a:r>
          </a:p>
          <a:p>
            <a:pPr>
              <a:buNone/>
            </a:pPr>
            <a:r>
              <a:rPr lang="ru-RU" dirty="0" smtClean="0"/>
              <a:t>        {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Regex</a:t>
            </a:r>
            <a:r>
              <a:rPr lang="en-US" dirty="0" smtClean="0"/>
              <a:t> r = new </a:t>
            </a:r>
            <a:r>
              <a:rPr lang="en-US" dirty="0" err="1" smtClean="0"/>
              <a:t>Regex</a:t>
            </a:r>
            <a:r>
              <a:rPr lang="en-US" dirty="0" smtClean="0"/>
              <a:t>("</a:t>
            </a:r>
            <a:r>
              <a:rPr lang="ru-RU" dirty="0" smtClean="0"/>
              <a:t>собака", </a:t>
            </a:r>
            <a:r>
              <a:rPr lang="en-US" dirty="0" err="1" smtClean="0"/>
              <a:t>RegexOptions.IgnoreCase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ru-RU" dirty="0" smtClean="0"/>
              <a:t>            </a:t>
            </a:r>
            <a:r>
              <a:rPr lang="ru-RU" dirty="0" err="1" smtClean="0"/>
              <a:t>string</a:t>
            </a:r>
            <a:r>
              <a:rPr lang="ru-RU" dirty="0" smtClean="0"/>
              <a:t> text1 = "Кот в доме, собака в конуре.";</a:t>
            </a:r>
          </a:p>
          <a:p>
            <a:pPr>
              <a:buNone/>
            </a:pPr>
            <a:r>
              <a:rPr lang="ru-RU" dirty="0" smtClean="0"/>
              <a:t>            </a:t>
            </a:r>
            <a:r>
              <a:rPr lang="ru-RU" dirty="0" err="1" smtClean="0"/>
              <a:t>string</a:t>
            </a:r>
            <a:r>
              <a:rPr lang="ru-RU" dirty="0" smtClean="0"/>
              <a:t> text2 = "Котик в доме, собачка в конуре.";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</a:t>
            </a:r>
            <a:r>
              <a:rPr lang="en-US" dirty="0" err="1" smtClean="0"/>
              <a:t>r.IsMatch</a:t>
            </a:r>
            <a:r>
              <a:rPr lang="en-US" dirty="0" smtClean="0"/>
              <a:t>(text1));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</a:t>
            </a:r>
            <a:r>
              <a:rPr lang="en-US" dirty="0" err="1" smtClean="0"/>
              <a:t>r.IsMatch</a:t>
            </a:r>
            <a:r>
              <a:rPr lang="en-US" dirty="0" smtClean="0"/>
              <a:t>(text2));</a:t>
            </a:r>
            <a:r>
              <a:rPr lang="ru-RU" dirty="0" smtClean="0"/>
              <a:t>        }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    }		}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28571" r="68467" b="14286"/>
          <a:stretch>
            <a:fillRect/>
          </a:stretch>
        </p:blipFill>
        <p:spPr bwMode="auto">
          <a:xfrm>
            <a:off x="6516216" y="5157192"/>
            <a:ext cx="2340260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940152" y="980728"/>
            <a:ext cx="28803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RegexOptions</a:t>
            </a:r>
            <a:r>
              <a:rPr lang="ru-RU" dirty="0" smtClean="0"/>
              <a:t>.</a:t>
            </a:r>
            <a:r>
              <a:rPr lang="en-US" dirty="0" err="1" smtClean="0"/>
              <a:t>IgnoreCase</a:t>
            </a:r>
            <a:r>
              <a:rPr lang="ru-RU" dirty="0" smtClean="0"/>
              <a:t> – означает, что регулярное выражение применяется без учеба регистра символов</a:t>
            </a:r>
            <a:endParaRPr lang="ru-RU" dirty="0"/>
          </a:p>
        </p:txBody>
      </p:sp>
      <p:cxnSp>
        <p:nvCxnSpPr>
          <p:cNvPr id="9" name="Прямая со стрелкой 8"/>
          <p:cNvCxnSpPr/>
          <p:nvPr/>
        </p:nvCxnSpPr>
        <p:spPr>
          <a:xfrm rot="5400000">
            <a:off x="4824028" y="2744924"/>
            <a:ext cx="1872208" cy="1368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332656"/>
            <a:ext cx="8435280" cy="5793507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/>
              <a:t> </a:t>
            </a:r>
            <a:r>
              <a:rPr lang="ru-RU" dirty="0" smtClean="0">
                <a:solidFill>
                  <a:srgbClr val="00B050"/>
                </a:solidFill>
              </a:rPr>
              <a:t>/* Можно использовать конструкцию выбора из нескольких элементов. Варианты выбора перечисляются через вертикальную черту*/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using System;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System.Collections.Generic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System.Linq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System.Text.RegularExpressions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namespace ConsoleApplication3</a:t>
            </a:r>
          </a:p>
          <a:p>
            <a:pPr>
              <a:buNone/>
            </a:pPr>
            <a:r>
              <a:rPr lang="ru-RU" dirty="0" smtClean="0"/>
              <a:t>{</a:t>
            </a:r>
          </a:p>
          <a:p>
            <a:pPr>
              <a:buNone/>
            </a:pPr>
            <a:r>
              <a:rPr lang="en-US" dirty="0" smtClean="0"/>
              <a:t>    class Program</a:t>
            </a:r>
          </a:p>
          <a:p>
            <a:pPr>
              <a:buNone/>
            </a:pPr>
            <a:r>
              <a:rPr lang="ru-RU" dirty="0" smtClean="0"/>
              <a:t>    {</a:t>
            </a:r>
          </a:p>
          <a:p>
            <a:pPr>
              <a:buNone/>
            </a:pPr>
            <a:r>
              <a:rPr lang="en-US" dirty="0" smtClean="0"/>
              <a:t>   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ru-RU" dirty="0" smtClean="0"/>
              <a:t>        {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Regex</a:t>
            </a:r>
            <a:r>
              <a:rPr lang="en-US" dirty="0" smtClean="0"/>
              <a:t> r = new </a:t>
            </a:r>
            <a:r>
              <a:rPr lang="en-US" dirty="0" err="1" smtClean="0"/>
              <a:t>Regex</a:t>
            </a:r>
            <a:r>
              <a:rPr lang="en-US" dirty="0" smtClean="0"/>
              <a:t>("</a:t>
            </a:r>
            <a:r>
              <a:rPr lang="ru-RU" dirty="0" err="1" smtClean="0"/>
              <a:t>собака|кот</a:t>
            </a:r>
            <a:r>
              <a:rPr lang="ru-RU" dirty="0" smtClean="0"/>
              <a:t>",</a:t>
            </a:r>
            <a:r>
              <a:rPr lang="en-US" dirty="0" err="1" smtClean="0"/>
              <a:t>RegexOptions.IgnoreCase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ru-RU" dirty="0" smtClean="0"/>
              <a:t>            </a:t>
            </a:r>
            <a:r>
              <a:rPr lang="ru-RU" dirty="0" err="1" smtClean="0"/>
              <a:t>string</a:t>
            </a:r>
            <a:r>
              <a:rPr lang="ru-RU" dirty="0" smtClean="0"/>
              <a:t> text1 = "Кот в доме, собака в конуре.";</a:t>
            </a:r>
          </a:p>
          <a:p>
            <a:pPr>
              <a:buNone/>
            </a:pPr>
            <a:r>
              <a:rPr lang="ru-RU" dirty="0" smtClean="0"/>
              <a:t>            </a:t>
            </a:r>
            <a:r>
              <a:rPr lang="ru-RU" dirty="0" err="1" smtClean="0"/>
              <a:t>string</a:t>
            </a:r>
            <a:r>
              <a:rPr lang="ru-RU" dirty="0" smtClean="0"/>
              <a:t> text2 = "Котик в доме, собачка в конуре.";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</a:t>
            </a:r>
            <a:r>
              <a:rPr lang="en-US" dirty="0" err="1" smtClean="0"/>
              <a:t>r.IsMatch</a:t>
            </a:r>
            <a:r>
              <a:rPr lang="en-US" dirty="0" smtClean="0"/>
              <a:t>(text1));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</a:t>
            </a:r>
            <a:r>
              <a:rPr lang="en-US" dirty="0" err="1" smtClean="0"/>
              <a:t>r.IsMatch</a:t>
            </a:r>
            <a:r>
              <a:rPr lang="en-US" dirty="0" smtClean="0"/>
              <a:t>(text2));     </a:t>
            </a:r>
          </a:p>
          <a:p>
            <a:pPr>
              <a:buNone/>
            </a:pPr>
            <a:r>
              <a:rPr lang="ru-RU" dirty="0" smtClean="0"/>
              <a:t>        }    }	}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t="21739" r="13182" b="21739"/>
          <a:stretch>
            <a:fillRect/>
          </a:stretch>
        </p:blipFill>
        <p:spPr bwMode="auto">
          <a:xfrm>
            <a:off x="5076056" y="1556792"/>
            <a:ext cx="3290212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rgbClr val="00B050"/>
                </a:solidFill>
              </a:rPr>
              <a:t> //есть ли в заданных строках номера телефона в формате </a:t>
            </a:r>
            <a:r>
              <a:rPr lang="ru-RU" dirty="0" err="1" smtClean="0">
                <a:solidFill>
                  <a:srgbClr val="00B050"/>
                </a:solidFill>
              </a:rPr>
              <a:t>xx-xx-xx</a:t>
            </a:r>
            <a:r>
              <a:rPr lang="ru-RU" dirty="0" smtClean="0">
                <a:solidFill>
                  <a:srgbClr val="00B050"/>
                </a:solidFill>
              </a:rPr>
              <a:t> или </a:t>
            </a:r>
            <a:r>
              <a:rPr lang="ru-RU" dirty="0" err="1" smtClean="0">
                <a:solidFill>
                  <a:srgbClr val="00B050"/>
                </a:solidFill>
              </a:rPr>
              <a:t>xxx-xx-xx</a:t>
            </a:r>
            <a:r>
              <a:rPr lang="ru-RU" dirty="0" smtClean="0">
                <a:solidFill>
                  <a:srgbClr val="00B050"/>
                </a:solidFill>
              </a:rPr>
              <a:t>: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using System;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System.Collections.Generic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System.Linq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System.Text.RegularExpressions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namespace ConsoleApplication3</a:t>
            </a:r>
          </a:p>
          <a:p>
            <a:pPr>
              <a:buNone/>
            </a:pPr>
            <a:r>
              <a:rPr lang="ru-RU" dirty="0" smtClean="0"/>
              <a:t>{</a:t>
            </a:r>
          </a:p>
          <a:p>
            <a:pPr>
              <a:buNone/>
            </a:pPr>
            <a:r>
              <a:rPr lang="en-US" dirty="0" smtClean="0"/>
              <a:t>    class Program</a:t>
            </a:r>
          </a:p>
          <a:p>
            <a:pPr>
              <a:buNone/>
            </a:pPr>
            <a:r>
              <a:rPr lang="ru-RU" dirty="0" smtClean="0"/>
              <a:t>    {</a:t>
            </a:r>
          </a:p>
          <a:p>
            <a:pPr>
              <a:buNone/>
            </a:pPr>
            <a:r>
              <a:rPr lang="en-US" dirty="0" smtClean="0"/>
              <a:t>static void Main()</a:t>
            </a:r>
          </a:p>
          <a:p>
            <a:pPr>
              <a:buNone/>
            </a:pPr>
            <a:r>
              <a:rPr lang="ru-RU" dirty="0" smtClean="0"/>
              <a:t>        {</a:t>
            </a:r>
          </a:p>
          <a:p>
            <a:pPr>
              <a:buNone/>
            </a:pPr>
            <a:r>
              <a:rPr lang="nn-NO" dirty="0" smtClean="0"/>
              <a:t>            Regex r = new Regex(@"\d{2,3}(-\d\d){2}");</a:t>
            </a:r>
          </a:p>
          <a:p>
            <a:pPr>
              <a:buNone/>
            </a:pPr>
            <a:r>
              <a:rPr lang="en-US" dirty="0" smtClean="0"/>
              <a:t>            string text1 = "tel:123-45-67";</a:t>
            </a:r>
          </a:p>
          <a:p>
            <a:pPr>
              <a:buNone/>
            </a:pPr>
            <a:r>
              <a:rPr lang="en-US" dirty="0" smtClean="0"/>
              <a:t>            string text2 = "</a:t>
            </a:r>
            <a:r>
              <a:rPr lang="en-US" dirty="0" err="1" smtClean="0"/>
              <a:t>tel:no</a:t>
            </a:r>
            <a:r>
              <a:rPr lang="en-US" dirty="0" smtClean="0"/>
              <a:t>";</a:t>
            </a:r>
          </a:p>
          <a:p>
            <a:pPr>
              <a:buNone/>
            </a:pPr>
            <a:r>
              <a:rPr lang="en-US" dirty="0" smtClean="0"/>
              <a:t>            string text3 = "tel:12-34-56";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</a:t>
            </a:r>
            <a:r>
              <a:rPr lang="en-US" dirty="0" err="1" smtClean="0"/>
              <a:t>r.IsMatch</a:t>
            </a:r>
            <a:r>
              <a:rPr lang="en-US" dirty="0" smtClean="0"/>
              <a:t>(text1));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</a:t>
            </a:r>
            <a:r>
              <a:rPr lang="en-US" dirty="0" err="1" smtClean="0"/>
              <a:t>r.IsMatch</a:t>
            </a:r>
            <a:r>
              <a:rPr lang="en-US" dirty="0" smtClean="0"/>
              <a:t>(text2));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</a:t>
            </a:r>
            <a:r>
              <a:rPr lang="en-US" dirty="0" err="1" smtClean="0"/>
              <a:t>r.IsMatch</a:t>
            </a:r>
            <a:r>
              <a:rPr lang="en-US" dirty="0" smtClean="0"/>
              <a:t>(text3));</a:t>
            </a:r>
          </a:p>
          <a:p>
            <a:pPr>
              <a:buNone/>
            </a:pPr>
            <a:r>
              <a:rPr lang="ru-RU" dirty="0" smtClean="0"/>
              <a:t>         }    }	}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r="70917" b="50204"/>
          <a:stretch>
            <a:fillRect/>
          </a:stretch>
        </p:blipFill>
        <p:spPr bwMode="auto">
          <a:xfrm>
            <a:off x="6012160" y="4581128"/>
            <a:ext cx="2736304" cy="1858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4664"/>
            <a:ext cx="8435280" cy="626469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rgbClr val="00B050"/>
                </a:solidFill>
              </a:rPr>
              <a:t> /*Метод </a:t>
            </a:r>
            <a:r>
              <a:rPr lang="ru-RU" dirty="0" err="1" smtClean="0">
                <a:solidFill>
                  <a:srgbClr val="00B050"/>
                </a:solidFill>
              </a:rPr>
              <a:t>Match</a:t>
            </a:r>
            <a:r>
              <a:rPr lang="ru-RU" dirty="0" smtClean="0">
                <a:solidFill>
                  <a:srgbClr val="00B050"/>
                </a:solidFill>
              </a:rPr>
              <a:t> класса </a:t>
            </a:r>
            <a:r>
              <a:rPr lang="ru-RU" dirty="0" err="1" smtClean="0">
                <a:solidFill>
                  <a:srgbClr val="00B050"/>
                </a:solidFill>
              </a:rPr>
              <a:t>Regex</a:t>
            </a:r>
            <a:r>
              <a:rPr lang="ru-RU" dirty="0" smtClean="0">
                <a:solidFill>
                  <a:srgbClr val="00B050"/>
                </a:solidFill>
              </a:rPr>
              <a:t> не просто определяет, содержится ли текст, соответствующий шаблону, а возвращает объект класса </a:t>
            </a:r>
            <a:r>
              <a:rPr lang="ru-RU" dirty="0" err="1" smtClean="0">
                <a:solidFill>
                  <a:srgbClr val="00B050"/>
                </a:solidFill>
              </a:rPr>
              <a:t>Match</a:t>
            </a:r>
            <a:r>
              <a:rPr lang="ru-RU" dirty="0" smtClean="0">
                <a:solidFill>
                  <a:srgbClr val="00B050"/>
                </a:solidFill>
              </a:rPr>
              <a:t> – последовательность фрагментов текста, совпавших с шаблоном*/</a:t>
            </a:r>
          </a:p>
          <a:p>
            <a:pPr>
              <a:buNone/>
            </a:pPr>
            <a:r>
              <a:rPr lang="en-US" dirty="0" smtClean="0"/>
              <a:t>using System;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System.Collections.Generic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System.Linq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System.Text.RegularExpressions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namespace ConsoleApplication3</a:t>
            </a:r>
          </a:p>
          <a:p>
            <a:pPr>
              <a:buNone/>
            </a:pPr>
            <a:r>
              <a:rPr lang="ru-RU" dirty="0" smtClean="0"/>
              <a:t>{</a:t>
            </a:r>
          </a:p>
          <a:p>
            <a:pPr>
              <a:buNone/>
            </a:pPr>
            <a:r>
              <a:rPr lang="en-US" dirty="0" smtClean="0"/>
              <a:t>    class Program</a:t>
            </a:r>
            <a:r>
              <a:rPr lang="ru-RU" dirty="0" smtClean="0"/>
              <a:t>    {</a:t>
            </a:r>
          </a:p>
          <a:p>
            <a:pPr>
              <a:buNone/>
            </a:pPr>
            <a:r>
              <a:rPr lang="en-US" dirty="0" smtClean="0"/>
              <a:t>static void Main()</a:t>
            </a:r>
            <a:r>
              <a:rPr lang="ru-RU" dirty="0" smtClean="0"/>
              <a:t>        {</a:t>
            </a:r>
          </a:p>
          <a:p>
            <a:pPr>
              <a:buNone/>
            </a:pPr>
            <a:r>
              <a:rPr lang="nn-NO" dirty="0" smtClean="0"/>
              <a:t>            Regex r = new Regex(@"\d{2,3}(-\d\d){2}");</a:t>
            </a:r>
          </a:p>
          <a:p>
            <a:pPr>
              <a:buNone/>
            </a:pPr>
            <a:r>
              <a:rPr lang="en-US" dirty="0" smtClean="0"/>
              <a:t>            string text = @"</a:t>
            </a:r>
            <a:r>
              <a:rPr lang="en-US" dirty="0" err="1" smtClean="0"/>
              <a:t>Контакты</a:t>
            </a:r>
            <a:r>
              <a:rPr lang="en-US" dirty="0" smtClean="0"/>
              <a:t> в </a:t>
            </a:r>
            <a:r>
              <a:rPr lang="en-US" dirty="0" err="1" smtClean="0"/>
              <a:t>Минске</a:t>
            </a:r>
            <a:r>
              <a:rPr lang="en-US" dirty="0" smtClean="0"/>
              <a:t> tel:123-45-67, 123-34-56; fax:123-56-45</a:t>
            </a:r>
          </a:p>
          <a:p>
            <a:pPr>
              <a:buNone/>
            </a:pPr>
            <a:r>
              <a:rPr lang="ru-RU" dirty="0" smtClean="0"/>
              <a:t>                                      Контакты в Бресте tel:12-34-56; fax:12-56-45";</a:t>
            </a:r>
          </a:p>
          <a:p>
            <a:pPr>
              <a:buNone/>
            </a:pPr>
            <a:r>
              <a:rPr lang="en-US" dirty="0" smtClean="0"/>
              <a:t>            Match </a:t>
            </a:r>
            <a:r>
              <a:rPr lang="en-US" dirty="0" err="1" smtClean="0"/>
              <a:t>tel</a:t>
            </a:r>
            <a:r>
              <a:rPr lang="en-US" dirty="0" smtClean="0"/>
              <a:t> = </a:t>
            </a:r>
            <a:r>
              <a:rPr lang="en-US" dirty="0" err="1" smtClean="0"/>
              <a:t>r.Match</a:t>
            </a:r>
            <a:r>
              <a:rPr lang="en-US" dirty="0" smtClean="0"/>
              <a:t>(text);</a:t>
            </a:r>
          </a:p>
          <a:p>
            <a:pPr>
              <a:buNone/>
            </a:pPr>
            <a:r>
              <a:rPr lang="en-US" dirty="0" smtClean="0"/>
              <a:t>            while (</a:t>
            </a:r>
            <a:r>
              <a:rPr lang="en-US" dirty="0" err="1" smtClean="0"/>
              <a:t>tel.Success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ru-RU" dirty="0" smtClean="0"/>
              <a:t>            {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</a:t>
            </a:r>
            <a:r>
              <a:rPr lang="en-US" dirty="0" err="1" smtClean="0"/>
              <a:t>tel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tel</a:t>
            </a:r>
            <a:r>
              <a:rPr lang="en-US" dirty="0" smtClean="0"/>
              <a:t> = </a:t>
            </a:r>
            <a:r>
              <a:rPr lang="en-US" dirty="0" err="1" smtClean="0"/>
              <a:t>tel.NextMatch</a:t>
            </a:r>
            <a:r>
              <a:rPr lang="en-US" dirty="0" smtClean="0"/>
              <a:t>();</a:t>
            </a:r>
            <a:r>
              <a:rPr lang="ru-RU" dirty="0" smtClean="0"/>
              <a:t>            }</a:t>
            </a:r>
          </a:p>
          <a:p>
            <a:pPr>
              <a:buNone/>
            </a:pPr>
            <a:r>
              <a:rPr lang="ru-RU" dirty="0" smtClean="0"/>
              <a:t>        }    }	}</a:t>
            </a:r>
          </a:p>
          <a:p>
            <a:pPr>
              <a:buNone/>
            </a:pPr>
            <a:endParaRPr lang="ru-RU" dirty="0" smtClean="0"/>
          </a:p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r="65633" b="67684"/>
          <a:stretch>
            <a:fillRect/>
          </a:stretch>
        </p:blipFill>
        <p:spPr bwMode="auto">
          <a:xfrm>
            <a:off x="5508104" y="5157192"/>
            <a:ext cx="2880146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435280" cy="626469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rgbClr val="00B050"/>
                </a:solidFill>
              </a:rPr>
              <a:t> //подсчитать сумму целых чисел, встречающихся в тексте:</a:t>
            </a:r>
          </a:p>
          <a:p>
            <a:pPr>
              <a:buNone/>
            </a:pPr>
            <a:r>
              <a:rPr lang="en-US" dirty="0" smtClean="0"/>
              <a:t>using System;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System.Collections.Generic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System.Linq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System.Text.RegularExpressions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namespace ConsoleApplication3</a:t>
            </a:r>
            <a:r>
              <a:rPr lang="ru-RU" dirty="0" smtClean="0"/>
              <a:t>{</a:t>
            </a:r>
          </a:p>
          <a:p>
            <a:pPr>
              <a:buNone/>
            </a:pPr>
            <a:r>
              <a:rPr lang="en-US" dirty="0" smtClean="0"/>
              <a:t>    class Program</a:t>
            </a:r>
            <a:r>
              <a:rPr lang="ru-RU" dirty="0" smtClean="0"/>
              <a:t>    {</a:t>
            </a:r>
          </a:p>
          <a:p>
            <a:pPr>
              <a:buNone/>
            </a:pPr>
            <a:r>
              <a:rPr lang="en-US" dirty="0" smtClean="0"/>
              <a:t>static void Main()</a:t>
            </a:r>
            <a:r>
              <a:rPr lang="ru-RU" dirty="0" smtClean="0"/>
              <a:t>        {</a:t>
            </a:r>
          </a:p>
          <a:p>
            <a:pPr>
              <a:buNone/>
            </a:pPr>
            <a:r>
              <a:rPr lang="nn-NO" dirty="0" smtClean="0"/>
              <a:t>            Regex r = new Regex(@"[-+]?\d+");</a:t>
            </a:r>
          </a:p>
          <a:p>
            <a:pPr>
              <a:buNone/>
            </a:pPr>
            <a:r>
              <a:rPr lang="en-US" dirty="0" smtClean="0"/>
              <a:t>            string text = @"5*10=50 -80/40=-2";</a:t>
            </a:r>
          </a:p>
          <a:p>
            <a:pPr>
              <a:buNone/>
            </a:pPr>
            <a:r>
              <a:rPr lang="en-US" dirty="0" smtClean="0"/>
              <a:t>            Match </a:t>
            </a:r>
            <a:r>
              <a:rPr lang="en-US" dirty="0" err="1" smtClean="0"/>
              <a:t>teg</a:t>
            </a:r>
            <a:r>
              <a:rPr lang="en-US" dirty="0" smtClean="0"/>
              <a:t> = </a:t>
            </a:r>
            <a:r>
              <a:rPr lang="en-US" dirty="0" err="1" smtClean="0"/>
              <a:t>r.Match</a:t>
            </a:r>
            <a:r>
              <a:rPr lang="en-US" dirty="0" smtClean="0"/>
              <a:t>(text);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int</a:t>
            </a:r>
            <a:r>
              <a:rPr lang="en-US" dirty="0" smtClean="0"/>
              <a:t> sum = 0;</a:t>
            </a:r>
          </a:p>
          <a:p>
            <a:pPr>
              <a:buNone/>
            </a:pPr>
            <a:r>
              <a:rPr lang="en-US" dirty="0" smtClean="0"/>
              <a:t>            while (</a:t>
            </a:r>
            <a:r>
              <a:rPr lang="en-US" dirty="0" err="1" smtClean="0"/>
              <a:t>teg.Success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ru-RU" dirty="0" smtClean="0"/>
              <a:t>            {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</a:t>
            </a:r>
            <a:r>
              <a:rPr lang="en-US" dirty="0" err="1" smtClean="0"/>
              <a:t>teg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         sum += </a:t>
            </a:r>
            <a:r>
              <a:rPr lang="en-US" dirty="0" err="1" smtClean="0"/>
              <a:t>int.Parse</a:t>
            </a:r>
            <a:r>
              <a:rPr lang="en-US" dirty="0" smtClean="0"/>
              <a:t>(</a:t>
            </a:r>
            <a:r>
              <a:rPr lang="en-US" dirty="0" err="1" smtClean="0"/>
              <a:t>teg.ToString</a:t>
            </a:r>
            <a:r>
              <a:rPr lang="en-US" dirty="0" smtClean="0"/>
              <a:t>());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teg</a:t>
            </a:r>
            <a:r>
              <a:rPr lang="en-US" dirty="0" smtClean="0"/>
              <a:t> = </a:t>
            </a:r>
            <a:r>
              <a:rPr lang="en-US" dirty="0" err="1" smtClean="0"/>
              <a:t>teg.NextMatch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ru-RU" dirty="0" smtClean="0"/>
              <a:t>            }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("sum=" + sum);</a:t>
            </a:r>
          </a:p>
          <a:p>
            <a:pPr>
              <a:buNone/>
            </a:pPr>
            <a:r>
              <a:rPr lang="ru-RU" dirty="0" smtClean="0"/>
              <a:t>      }    }	}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3507554"/>
            <a:ext cx="3312368" cy="3111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26469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/>
              <a:t> </a:t>
            </a:r>
            <a:r>
              <a:rPr lang="ru-RU" dirty="0" smtClean="0">
                <a:solidFill>
                  <a:srgbClr val="00B050"/>
                </a:solidFill>
              </a:rPr>
              <a:t>/*Метод </a:t>
            </a:r>
            <a:r>
              <a:rPr lang="ru-RU" dirty="0" err="1" smtClean="0">
                <a:solidFill>
                  <a:srgbClr val="00B050"/>
                </a:solidFill>
              </a:rPr>
              <a:t>Matches</a:t>
            </a:r>
            <a:r>
              <a:rPr lang="ru-RU" dirty="0" smtClean="0">
                <a:solidFill>
                  <a:srgbClr val="00B050"/>
                </a:solidFill>
              </a:rPr>
              <a:t> класса </a:t>
            </a:r>
            <a:r>
              <a:rPr lang="ru-RU" dirty="0" err="1" smtClean="0">
                <a:solidFill>
                  <a:srgbClr val="00B050"/>
                </a:solidFill>
              </a:rPr>
              <a:t>Regex</a:t>
            </a:r>
            <a:r>
              <a:rPr lang="ru-RU" dirty="0" smtClean="0">
                <a:solidFill>
                  <a:srgbClr val="00B050"/>
                </a:solidFill>
              </a:rPr>
              <a:t> возвращает объект класса </a:t>
            </a:r>
            <a:r>
              <a:rPr lang="ru-RU" dirty="0" err="1" smtClean="0">
                <a:solidFill>
                  <a:srgbClr val="00B050"/>
                </a:solidFill>
              </a:rPr>
              <a:t>MatchCollection</a:t>
            </a:r>
            <a:r>
              <a:rPr lang="ru-RU" dirty="0" smtClean="0">
                <a:solidFill>
                  <a:srgbClr val="00B050"/>
                </a:solidFill>
              </a:rPr>
              <a:t> – коллекцию всех фрагментов заданной строки, совпавших с шаблоном. При этом метод </a:t>
            </a:r>
            <a:r>
              <a:rPr lang="ru-RU" dirty="0" err="1" smtClean="0">
                <a:solidFill>
                  <a:srgbClr val="00B050"/>
                </a:solidFill>
              </a:rPr>
              <a:t>Matches</a:t>
            </a:r>
            <a:r>
              <a:rPr lang="ru-RU" dirty="0" smtClean="0">
                <a:solidFill>
                  <a:srgbClr val="00B050"/>
                </a:solidFill>
              </a:rPr>
              <a:t> многократно запускает метод </a:t>
            </a:r>
            <a:r>
              <a:rPr lang="ru-RU" dirty="0" err="1" smtClean="0">
                <a:solidFill>
                  <a:srgbClr val="00B050"/>
                </a:solidFill>
              </a:rPr>
              <a:t>Match</a:t>
            </a:r>
            <a:r>
              <a:rPr lang="ru-RU" dirty="0" smtClean="0">
                <a:solidFill>
                  <a:srgbClr val="00B050"/>
                </a:solidFill>
              </a:rPr>
              <a:t>, каждый раз начиная поиск с того места, на котором закончился предыдущий поиск*/</a:t>
            </a:r>
          </a:p>
          <a:p>
            <a:pPr>
              <a:buNone/>
            </a:pPr>
            <a:r>
              <a:rPr lang="en-US" dirty="0" smtClean="0"/>
              <a:t>using System;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System.Collections.Generic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System.Linq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System.Text.RegularExpressions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namespace ConsoleApplication3</a:t>
            </a:r>
          </a:p>
          <a:p>
            <a:pPr>
              <a:buNone/>
            </a:pPr>
            <a:r>
              <a:rPr lang="ru-RU" dirty="0" smtClean="0"/>
              <a:t>{</a:t>
            </a:r>
          </a:p>
          <a:p>
            <a:pPr>
              <a:buNone/>
            </a:pPr>
            <a:r>
              <a:rPr lang="en-US" dirty="0" smtClean="0"/>
              <a:t>    class Program</a:t>
            </a:r>
          </a:p>
          <a:p>
            <a:pPr>
              <a:buNone/>
            </a:pPr>
            <a:r>
              <a:rPr lang="ru-RU" dirty="0" smtClean="0"/>
              <a:t>    {</a:t>
            </a:r>
          </a:p>
          <a:p>
            <a:pPr>
              <a:buNone/>
            </a:pPr>
            <a:r>
              <a:rPr lang="en-US" dirty="0" smtClean="0"/>
              <a:t>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ru-RU" dirty="0" smtClean="0"/>
              <a:t>{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string text = @"5*10=50 -80/40=-2";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err="1" smtClean="0"/>
              <a:t>Regex</a:t>
            </a:r>
            <a:r>
              <a:rPr lang="en-US" dirty="0" smtClean="0"/>
              <a:t> </a:t>
            </a:r>
            <a:r>
              <a:rPr lang="en-US" dirty="0" err="1" smtClean="0"/>
              <a:t>theReg</a:t>
            </a:r>
            <a:r>
              <a:rPr lang="en-US" dirty="0" smtClean="0"/>
              <a:t> = new </a:t>
            </a:r>
            <a:r>
              <a:rPr lang="en-US" dirty="0" err="1" smtClean="0"/>
              <a:t>Regex</a:t>
            </a:r>
            <a:r>
              <a:rPr lang="en-US" dirty="0" smtClean="0"/>
              <a:t>(@"[-+]?\d+");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err="1" smtClean="0"/>
              <a:t>MatchCollection</a:t>
            </a:r>
            <a:r>
              <a:rPr lang="en-US" dirty="0" smtClean="0"/>
              <a:t> </a:t>
            </a:r>
            <a:r>
              <a:rPr lang="en-US" dirty="0" err="1" smtClean="0"/>
              <a:t>theMatches</a:t>
            </a:r>
            <a:r>
              <a:rPr lang="en-US" dirty="0" smtClean="0"/>
              <a:t> = </a:t>
            </a:r>
            <a:r>
              <a:rPr lang="en-US" dirty="0" err="1" smtClean="0"/>
              <a:t>theReg.Matches</a:t>
            </a:r>
            <a:r>
              <a:rPr lang="en-US" dirty="0" smtClean="0"/>
              <a:t>(text);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err="1" smtClean="0"/>
              <a:t>foreach</a:t>
            </a:r>
            <a:r>
              <a:rPr lang="en-US" dirty="0" smtClean="0"/>
              <a:t> (Match </a:t>
            </a:r>
            <a:r>
              <a:rPr lang="en-US" dirty="0" err="1" smtClean="0"/>
              <a:t>theMatch</a:t>
            </a:r>
            <a:r>
              <a:rPr lang="en-US" dirty="0" smtClean="0"/>
              <a:t> in </a:t>
            </a:r>
            <a:r>
              <a:rPr lang="en-US" dirty="0" err="1" smtClean="0"/>
              <a:t>theMatches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ru-RU" dirty="0" smtClean="0"/>
              <a:t>{	</a:t>
            </a:r>
            <a:r>
              <a:rPr lang="en-US" dirty="0" err="1" smtClean="0"/>
              <a:t>Console.Write</a:t>
            </a:r>
            <a:r>
              <a:rPr lang="en-US" dirty="0" smtClean="0"/>
              <a:t>("{0} ", </a:t>
            </a:r>
            <a:r>
              <a:rPr lang="en-US" dirty="0" err="1" smtClean="0"/>
              <a:t>theMatch.ToString</a:t>
            </a:r>
            <a:r>
              <a:rPr lang="en-US" dirty="0" smtClean="0"/>
              <a:t>());</a:t>
            </a:r>
            <a:r>
              <a:rPr lang="ru-RU" dirty="0" smtClean="0"/>
              <a:t>	}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err="1" smtClean="0"/>
              <a:t>Console.WriteLine</a:t>
            </a:r>
            <a:r>
              <a:rPr lang="en-US" dirty="0" smtClean="0"/>
              <a:t>();</a:t>
            </a:r>
            <a:r>
              <a:rPr lang="ru-RU" dirty="0" smtClean="0"/>
              <a:t>	}</a:t>
            </a:r>
          </a:p>
          <a:p>
            <a:pPr>
              <a:buNone/>
            </a:pPr>
            <a:r>
              <a:rPr lang="ru-RU" dirty="0" smtClean="0"/>
              <a:t>}    }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844824"/>
            <a:ext cx="393382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b="1" i="1" dirty="0" smtClean="0">
                <a:solidFill>
                  <a:srgbClr val="FF0000"/>
                </a:solidFill>
                <a:latin typeface="Times New Roman"/>
                <a:ea typeface="Times New Roman"/>
              </a:rPr>
              <a:t>Редактирование текста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507288" cy="547260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rgbClr val="00B050"/>
                </a:solidFill>
              </a:rPr>
              <a:t> // метод </a:t>
            </a:r>
            <a:r>
              <a:rPr lang="ru-RU" dirty="0" err="1" smtClean="0">
                <a:solidFill>
                  <a:srgbClr val="00B050"/>
                </a:solidFill>
              </a:rPr>
              <a:t>Replace</a:t>
            </a:r>
            <a:r>
              <a:rPr lang="ru-RU" dirty="0" smtClean="0">
                <a:solidFill>
                  <a:srgbClr val="00B050"/>
                </a:solidFill>
              </a:rPr>
              <a:t> класса </a:t>
            </a:r>
            <a:r>
              <a:rPr lang="ru-RU" dirty="0" err="1" smtClean="0">
                <a:solidFill>
                  <a:srgbClr val="00B050"/>
                </a:solidFill>
              </a:rPr>
              <a:t>Regex</a:t>
            </a:r>
            <a:r>
              <a:rPr lang="ru-RU" dirty="0" smtClean="0">
                <a:solidFill>
                  <a:srgbClr val="00B050"/>
                </a:solidFill>
              </a:rPr>
              <a:t> позволяет выполнять замену одного фрагмента текста другим или удаление фрагментов текста:</a:t>
            </a:r>
          </a:p>
          <a:p>
            <a:pPr>
              <a:buNone/>
            </a:pPr>
            <a:r>
              <a:rPr lang="en-US" dirty="0" smtClean="0"/>
              <a:t>using System;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System.Collections.Generic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System.Linq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System.Text.RegularExpressions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namespace ConsoleApplication3</a:t>
            </a:r>
            <a:r>
              <a:rPr lang="ru-RU" dirty="0" smtClean="0"/>
              <a:t>	{</a:t>
            </a:r>
          </a:p>
          <a:p>
            <a:pPr>
              <a:buNone/>
            </a:pPr>
            <a:r>
              <a:rPr lang="en-US" dirty="0" smtClean="0"/>
              <a:t>    class Program</a:t>
            </a:r>
            <a:r>
              <a:rPr lang="ru-RU" dirty="0" smtClean="0"/>
              <a:t>    {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       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</a:t>
            </a:r>
            <a:r>
              <a:rPr lang="ru-RU" dirty="0" smtClean="0"/>
              <a:t>        {</a:t>
            </a:r>
          </a:p>
          <a:p>
            <a:pPr>
              <a:buNone/>
            </a:pPr>
            <a:r>
              <a:rPr lang="en-US" dirty="0" smtClean="0"/>
              <a:t>            string text = @"</a:t>
            </a:r>
            <a:r>
              <a:rPr lang="en-US" dirty="0" err="1" smtClean="0"/>
              <a:t>Контакты</a:t>
            </a:r>
            <a:r>
              <a:rPr lang="en-US" dirty="0" smtClean="0"/>
              <a:t> в </a:t>
            </a:r>
            <a:r>
              <a:rPr lang="en-US" dirty="0" err="1" smtClean="0"/>
              <a:t>Минске</a:t>
            </a:r>
            <a:r>
              <a:rPr lang="en-US" dirty="0" smtClean="0"/>
              <a:t> tel:123-45-67, 123-34-56; fax:123-56-45. </a:t>
            </a:r>
          </a:p>
          <a:p>
            <a:pPr>
              <a:buNone/>
            </a:pPr>
            <a:r>
              <a:rPr lang="ru-RU" dirty="0" smtClean="0"/>
              <a:t>                      Контакты в Бресте tel:12-34-56; fax:11-56-45";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("</a:t>
            </a:r>
            <a:r>
              <a:rPr lang="ru-RU" dirty="0" smtClean="0"/>
              <a:t>Старые </a:t>
            </a:r>
            <a:r>
              <a:rPr lang="ru-RU" dirty="0" err="1" smtClean="0"/>
              <a:t>данные\</a:t>
            </a:r>
            <a:r>
              <a:rPr lang="en-US" dirty="0" smtClean="0"/>
              <a:t>n" + text);</a:t>
            </a:r>
          </a:p>
          <a:p>
            <a:pPr>
              <a:buNone/>
            </a:pPr>
            <a:r>
              <a:rPr lang="en-US" dirty="0" smtClean="0"/>
              <a:t>            string </a:t>
            </a:r>
            <a:r>
              <a:rPr lang="en-US" dirty="0" err="1" smtClean="0"/>
              <a:t>newText</a:t>
            </a:r>
            <a:r>
              <a:rPr lang="en-US" dirty="0" smtClean="0"/>
              <a:t> = </a:t>
            </a:r>
            <a:r>
              <a:rPr lang="en-US" dirty="0" err="1" smtClean="0"/>
              <a:t>Regex.Replace</a:t>
            </a:r>
            <a:r>
              <a:rPr lang="en-US" dirty="0" smtClean="0"/>
              <a:t>(text, "123-", "890-");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Console.WriteLine</a:t>
            </a:r>
            <a:r>
              <a:rPr lang="en-US" dirty="0" smtClean="0"/>
              <a:t>("</a:t>
            </a:r>
            <a:r>
              <a:rPr lang="ru-RU" dirty="0" smtClean="0"/>
              <a:t>Новые </a:t>
            </a:r>
            <a:r>
              <a:rPr lang="ru-RU" dirty="0" err="1" smtClean="0"/>
              <a:t>данные\</a:t>
            </a:r>
            <a:r>
              <a:rPr lang="en-US" dirty="0" smtClean="0"/>
              <a:t>n" + </a:t>
            </a:r>
            <a:r>
              <a:rPr lang="en-US" dirty="0" err="1" smtClean="0"/>
              <a:t>newText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ru-RU" dirty="0" smtClean="0"/>
              <a:t>        }</a:t>
            </a:r>
          </a:p>
          <a:p>
            <a:pPr>
              <a:buNone/>
            </a:pPr>
            <a:r>
              <a:rPr lang="ru-RU" dirty="0" smtClean="0"/>
              <a:t>    }</a:t>
            </a:r>
          </a:p>
          <a:p>
            <a:pPr>
              <a:buNone/>
            </a:pPr>
            <a:r>
              <a:rPr lang="ru-RU" dirty="0" smtClean="0"/>
              <a:t>}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t="19509" r="9972" b="21962"/>
          <a:stretch>
            <a:fillRect/>
          </a:stretch>
        </p:blipFill>
        <p:spPr bwMode="auto">
          <a:xfrm>
            <a:off x="3635896" y="5805264"/>
            <a:ext cx="5256584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4664"/>
            <a:ext cx="8363272" cy="6453336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using System;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System.Collections.Generic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System.Linq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System.Text.RegularExpressions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namespace ConsoleApplication3</a:t>
            </a:r>
          </a:p>
          <a:p>
            <a:pPr>
              <a:buNone/>
            </a:pPr>
            <a:r>
              <a:rPr lang="ru-RU" dirty="0" smtClean="0"/>
              <a:t>{</a:t>
            </a:r>
          </a:p>
          <a:p>
            <a:pPr>
              <a:buNone/>
            </a:pPr>
            <a:r>
              <a:rPr lang="en-US" dirty="0" smtClean="0"/>
              <a:t>    class Program</a:t>
            </a:r>
            <a:r>
              <a:rPr lang="ru-RU" dirty="0" smtClean="0"/>
              <a:t>    {</a:t>
            </a:r>
          </a:p>
          <a:p>
            <a:pPr>
              <a:buNone/>
            </a:pPr>
            <a:r>
              <a:rPr lang="ru-RU" dirty="0" smtClean="0">
                <a:solidFill>
                  <a:srgbClr val="00B050"/>
                </a:solidFill>
              </a:rPr>
              <a:t>       // Удаление всех номеров телефонов из текста: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static void Main()</a:t>
            </a:r>
          </a:p>
          <a:p>
            <a:pPr>
              <a:buNone/>
            </a:pPr>
            <a:r>
              <a:rPr lang="ru-RU" dirty="0" smtClean="0"/>
              <a:t>{            </a:t>
            </a:r>
          </a:p>
          <a:p>
            <a:pPr>
              <a:buNone/>
            </a:pPr>
            <a:r>
              <a:rPr lang="en-US" dirty="0" smtClean="0"/>
              <a:t>string text = @"</a:t>
            </a:r>
            <a:r>
              <a:rPr lang="en-US" dirty="0" err="1" smtClean="0"/>
              <a:t>Контакты</a:t>
            </a:r>
            <a:r>
              <a:rPr lang="en-US" dirty="0" smtClean="0"/>
              <a:t> в </a:t>
            </a:r>
            <a:r>
              <a:rPr lang="en-US" dirty="0" err="1" smtClean="0"/>
              <a:t>Минске</a:t>
            </a:r>
            <a:r>
              <a:rPr lang="en-US" dirty="0" smtClean="0"/>
              <a:t> tel:123-45-67, 123-34-56; fax:123-56-45. </a:t>
            </a:r>
          </a:p>
          <a:p>
            <a:pPr>
              <a:buNone/>
            </a:pPr>
            <a:r>
              <a:rPr lang="ru-RU" dirty="0" smtClean="0"/>
              <a:t>    Контакты в Бресте tel:12-34-56; fax:12-56-45";</a:t>
            </a:r>
          </a:p>
          <a:p>
            <a:pPr>
              <a:buNone/>
            </a:pPr>
            <a:r>
              <a:rPr lang="en-US" dirty="0" err="1" smtClean="0"/>
              <a:t>Console.WriteLine</a:t>
            </a:r>
            <a:r>
              <a:rPr lang="en-US" dirty="0" smtClean="0"/>
              <a:t>("</a:t>
            </a:r>
            <a:r>
              <a:rPr lang="ru-RU" dirty="0" smtClean="0"/>
              <a:t>Старые </a:t>
            </a:r>
            <a:r>
              <a:rPr lang="ru-RU" dirty="0" err="1" smtClean="0"/>
              <a:t>данные\</a:t>
            </a:r>
            <a:r>
              <a:rPr lang="en-US" dirty="0" smtClean="0"/>
              <a:t>n"+text);</a:t>
            </a:r>
          </a:p>
          <a:p>
            <a:pPr>
              <a:buNone/>
            </a:pPr>
            <a:r>
              <a:rPr lang="en-US" dirty="0" smtClean="0"/>
              <a:t>string </a:t>
            </a:r>
            <a:r>
              <a:rPr lang="en-US" dirty="0" err="1" smtClean="0"/>
              <a:t>newText</a:t>
            </a:r>
            <a:r>
              <a:rPr lang="en-US" dirty="0" smtClean="0"/>
              <a:t>=</a:t>
            </a:r>
            <a:r>
              <a:rPr lang="en-US" dirty="0" err="1" smtClean="0"/>
              <a:t>Regex.Replace</a:t>
            </a:r>
            <a:r>
              <a:rPr lang="en-US" dirty="0" smtClean="0"/>
              <a:t>(text, @"\d{2,3}(-\d\d){2}", "");</a:t>
            </a:r>
          </a:p>
          <a:p>
            <a:pPr>
              <a:buNone/>
            </a:pPr>
            <a:r>
              <a:rPr lang="en-US" dirty="0" err="1" smtClean="0"/>
              <a:t>Console.WriteLine</a:t>
            </a:r>
            <a:r>
              <a:rPr lang="en-US" dirty="0" smtClean="0"/>
              <a:t>("</a:t>
            </a:r>
            <a:r>
              <a:rPr lang="ru-RU" dirty="0" smtClean="0"/>
              <a:t>Новые </a:t>
            </a:r>
            <a:r>
              <a:rPr lang="ru-RU" dirty="0" err="1" smtClean="0"/>
              <a:t>данные\</a:t>
            </a:r>
            <a:r>
              <a:rPr lang="en-US" dirty="0" smtClean="0"/>
              <a:t>n" + </a:t>
            </a:r>
            <a:r>
              <a:rPr lang="en-US" dirty="0" err="1" smtClean="0"/>
              <a:t>newText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ru-RU" dirty="0" smtClean="0"/>
              <a:t>}</a:t>
            </a:r>
          </a:p>
          <a:p>
            <a:pPr>
              <a:buNone/>
            </a:pPr>
            <a:r>
              <a:rPr lang="ru-RU" dirty="0" smtClean="0"/>
              <a:t>}</a:t>
            </a:r>
          </a:p>
          <a:p>
            <a:pPr>
              <a:buNone/>
            </a:pPr>
            <a:r>
              <a:rPr lang="ru-RU" dirty="0" smtClean="0"/>
              <a:t>        }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r="7739" b="27570"/>
          <a:stretch>
            <a:fillRect/>
          </a:stretch>
        </p:blipFill>
        <p:spPr bwMode="auto">
          <a:xfrm>
            <a:off x="4860033" y="692696"/>
            <a:ext cx="428396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19268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using System;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System.Collections.Generic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System.Linq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System.Text.RegularExpressions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namespace ConsoleApplication3</a:t>
            </a:r>
          </a:p>
          <a:p>
            <a:pPr>
              <a:buNone/>
            </a:pPr>
            <a:r>
              <a:rPr lang="ru-RU" dirty="0" smtClean="0"/>
              <a:t>{</a:t>
            </a:r>
          </a:p>
          <a:p>
            <a:pPr>
              <a:buNone/>
            </a:pPr>
            <a:r>
              <a:rPr lang="en-US" dirty="0" smtClean="0"/>
              <a:t>    class Program</a:t>
            </a:r>
          </a:p>
          <a:p>
            <a:pPr>
              <a:buNone/>
            </a:pPr>
            <a:r>
              <a:rPr lang="ru-RU" dirty="0" smtClean="0"/>
              <a:t>    {</a:t>
            </a:r>
          </a:p>
          <a:p>
            <a:pPr>
              <a:buNone/>
            </a:pPr>
            <a:r>
              <a:rPr lang="ru-RU" dirty="0" smtClean="0">
                <a:solidFill>
                  <a:srgbClr val="00B050"/>
                </a:solidFill>
              </a:rPr>
              <a:t>       //Разбиение исходного текста на фрагменты: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static void Main()</a:t>
            </a:r>
          </a:p>
          <a:p>
            <a:pPr>
              <a:buNone/>
            </a:pPr>
            <a:r>
              <a:rPr lang="ru-RU" dirty="0" smtClean="0"/>
              <a:t>{            </a:t>
            </a:r>
          </a:p>
          <a:p>
            <a:pPr>
              <a:buNone/>
            </a:pPr>
            <a:r>
              <a:rPr lang="en-US" dirty="0" smtClean="0"/>
              <a:t>string text = @"</a:t>
            </a:r>
            <a:r>
              <a:rPr lang="en-US" dirty="0" err="1" smtClean="0"/>
              <a:t>Контакты</a:t>
            </a:r>
            <a:r>
              <a:rPr lang="en-US" dirty="0" smtClean="0"/>
              <a:t> в </a:t>
            </a:r>
            <a:r>
              <a:rPr lang="en-US" dirty="0" err="1" smtClean="0"/>
              <a:t>Минске</a:t>
            </a:r>
            <a:r>
              <a:rPr lang="en-US" dirty="0" smtClean="0"/>
              <a:t> tel:123-45-67, 123-34-56; fax:123-56-45.  </a:t>
            </a:r>
          </a:p>
          <a:p>
            <a:pPr>
              <a:buNone/>
            </a:pPr>
            <a:r>
              <a:rPr lang="ru-RU" dirty="0" smtClean="0"/>
              <a:t>                      Контакты в Бресте tel:12-34-56; fax:12-56-45";</a:t>
            </a:r>
          </a:p>
          <a:p>
            <a:pPr>
              <a:buNone/>
            </a:pPr>
            <a:r>
              <a:rPr lang="en-US" dirty="0" smtClean="0"/>
              <a:t>string []</a:t>
            </a:r>
            <a:r>
              <a:rPr lang="en-US" dirty="0" err="1" smtClean="0"/>
              <a:t>newText</a:t>
            </a:r>
            <a:r>
              <a:rPr lang="en-US" dirty="0" smtClean="0"/>
              <a:t>=</a:t>
            </a:r>
            <a:r>
              <a:rPr lang="en-US" dirty="0" err="1" smtClean="0"/>
              <a:t>Regex.Split</a:t>
            </a:r>
            <a:r>
              <a:rPr lang="en-US" dirty="0" smtClean="0"/>
              <a:t>(text,"[ ,.:;]+");</a:t>
            </a:r>
          </a:p>
          <a:p>
            <a:pPr>
              <a:buNone/>
            </a:pPr>
            <a:r>
              <a:rPr lang="en-US" dirty="0" err="1" smtClean="0"/>
              <a:t>foreach</a:t>
            </a:r>
            <a:r>
              <a:rPr lang="en-US" dirty="0" smtClean="0"/>
              <a:t>( string a in </a:t>
            </a:r>
            <a:r>
              <a:rPr lang="en-US" dirty="0" err="1" smtClean="0"/>
              <a:t>newText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err="1" smtClean="0"/>
              <a:t>Console.WriteLine</a:t>
            </a:r>
            <a:r>
              <a:rPr lang="en-US" dirty="0" smtClean="0"/>
              <a:t>(a);</a:t>
            </a:r>
          </a:p>
          <a:p>
            <a:pPr>
              <a:buNone/>
            </a:pPr>
            <a:r>
              <a:rPr lang="ru-RU" dirty="0" smtClean="0"/>
              <a:t>}</a:t>
            </a:r>
          </a:p>
          <a:p>
            <a:pPr>
              <a:buNone/>
            </a:pPr>
            <a:r>
              <a:rPr lang="ru-RU" dirty="0" smtClean="0"/>
              <a:t>}</a:t>
            </a:r>
          </a:p>
          <a:p>
            <a:pPr>
              <a:buNone/>
            </a:pPr>
            <a:r>
              <a:rPr lang="ru-RU" dirty="0" smtClean="0"/>
              <a:t>        }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t="6770" r="18820" b="21016"/>
          <a:stretch>
            <a:fillRect/>
          </a:stretch>
        </p:blipFill>
        <p:spPr bwMode="auto">
          <a:xfrm>
            <a:off x="7020272" y="116632"/>
            <a:ext cx="2123728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2796</Words>
  <Application>Microsoft Office PowerPoint</Application>
  <PresentationFormat>On-screen Show (4:3)</PresentationFormat>
  <Paragraphs>634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Times New Roman</vt:lpstr>
      <vt:lpstr>Times-Roman</vt:lpstr>
      <vt:lpstr>Тема Office</vt:lpstr>
      <vt:lpstr>Символы и строки</vt:lpstr>
      <vt:lpstr>Символы char</vt:lpstr>
      <vt:lpstr>Основные методы</vt:lpstr>
      <vt:lpstr>PowerPoint Presentation</vt:lpstr>
      <vt:lpstr>PowerPoint Presentation</vt:lpstr>
      <vt:lpstr>PowerPoint Presentation</vt:lpstr>
      <vt:lpstr>Неизменяемые строки string</vt:lpstr>
      <vt:lpstr>Создание строк </vt:lpstr>
      <vt:lpstr>Методы работы со строками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 работе с объектами класса string нужно учитывать их свойство неизменяемости, т.е. методы изменяют не сами строки, а их копии. </vt:lpstr>
      <vt:lpstr>Изменяемые строки</vt:lpstr>
      <vt:lpstr>PowerPoint Presentation</vt:lpstr>
      <vt:lpstr>PowerPoint Presentation</vt:lpstr>
      <vt:lpstr>PowerPoint Presentation</vt:lpstr>
      <vt:lpstr>Регулярные выражения</vt:lpstr>
      <vt:lpstr>Метасимволы в регулярных выражениях</vt:lpstr>
      <vt:lpstr>PowerPoint Presentation</vt:lpstr>
      <vt:lpstr>Кроме метасимволов, обозначающие классы символов, могут применяться уточняющие метасимволы:</vt:lpstr>
      <vt:lpstr>Повторители – метасимволы, которые располагаются непосредственно после обычного символа или группы символов и задают количество его повторений в выражении</vt:lpstr>
      <vt:lpstr>PowerPoint Presentation</vt:lpstr>
      <vt:lpstr>Поиск в тексте по шаблону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Редактирование текста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Символы и строки</dc:title>
  <dc:creator>admin</dc:creator>
  <cp:lastModifiedBy>itstep teacher</cp:lastModifiedBy>
  <cp:revision>27</cp:revision>
  <dcterms:created xsi:type="dcterms:W3CDTF">2012-01-31T17:13:53Z</dcterms:created>
  <dcterms:modified xsi:type="dcterms:W3CDTF">2020-04-22T05:34:19Z</dcterms:modified>
</cp:coreProperties>
</file>